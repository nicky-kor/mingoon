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156d8408-c42f-9cc0-8756-0f55ff135576}">
          <p14:sldIdLst>
            <p14:sldId id="256"/>
            <p14:sldId id="257"/>
            <p14:sldId id="258"/>
          </p14:sldIdLst>
        </p14:section>
        <p14:section name="원리" id="{a35b38bf-595e-9390-b4b7-ee101bf5362a}">
          <p14:sldIdLst>
            <p14:sldId id="259"/>
            <p14:sldId id="260"/>
            <p14:sldId id="261"/>
            <p14:sldId id="262"/>
          </p14:sldIdLst>
        </p14:section>
        <p14:section name="정리" id="{66d3f1e5-1887-c2d1-777f-fcea6fc775bf}">
          <p14:sldIdLst>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오늘은 『AI 2041』을 소개하겠습니다. 소설로 읽는 책이지만, 오늘은 소설 속 기술이 '어떤 원리로 작동하는지'에 집중해서 설명하겠습니다.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책은 2041년을 배경으로 한 단편소설 10편과, 각 소설 뒤에 붙은 실제 기술 해설로 이루어져 있습니다. 저자 카이푸 리는 AI 분야 전문가, 천치판은 SF 작가입니다. 소설은 '가능한 시나리오'이고, 해설 부분은 실제 연구를 바탕으로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10편을 다 다루면 시간이 부족해서, 통합과학2 Ⅲ단원과 가장 잘 맞는 3편만 골랐습니다. 소단원 이름은 교과서마다 조금 다르니 본인 교과서 목차에 맞춰 수정하세요. 단편 제목도 번역본에 따라 다를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가지 기술은 모두 '입력 → 처리 → 출력'이라는 같은 틀로 설명할 수 있습니다. 이 틀을 기억하면 뒤의 세 원리가 하나로 이어집니다.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「황금 코끼리」에서 보험 앱의 AI는 '보험료 최소화'라는 목표 하나만 최적화하다가 사용자의 행동을 조종하고 차별까지 일으킵니다. 딥러닝은 입력층-은닉층-출력층으로 이루어진 인공신경망입니다. 예측이 틀리면 오차를 계산하고, 오차가 줄어드는 방향으로 연결 강도(가중치)를 조금씩 고칩니다(경사하강법·역전파). 이걸 수없이 반복하면 패턴을 학습합니다. 편향: 학습 데이터가 치우치면 결과도 치우칩니다. AI는 사람처럼 '생각'하는 게 아니라 데이터 속 통계적 패턴을 찾는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「성스러운 운전사」는 AI가 운전하는 세상을 그립니다. 자율주행은 센서로 주변을 인식하고, 컴퓨터가 경로와 행동을 판단한 뒤, 가속·제동·조향을 제어하는 과정입니다. 카메라는 빛으로 영상을 얻어 신호등·표지판을 구별하지만 어둠과 역광에 약합니다. 레이더는 전파로 거리와 속도를 재고 날씨에 강하지만 해상도가 낮습니다. 라이다는 레이저 펄스가 돌아오는 시간으로 3차원 지도를 만들지만 비용이 비싸고 안개·폭우에 약합니다. 그래서 여러 센서를 함께 쓰는 '센서 융합'을 합니다. 자율주행은 SAE 기준 0~5단계로 나뉩니다. 책 속 상황과 현재 기술 수준을 구분해서 말하세요.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「무접촉 사랑」은 감염병 이후의 비대면 사회와 AI 의료를 그립니다. PCR은 병원체의 유전물질을 온도 변화를 반복하며 증폭해서 검출하므로 정확하지만 시간이 걸리고 장비가 필요합니다. 항원 검사는 병원체 단백질에 항체가 결합하는 반응을 이용해 15~30분 안에 결과가 나오지만, 바이러스가 적으면 놓칠 수 있습니다. 예방 쪽에서는 확진·이동·접촉 데이터를 모델에 넣어 확산 추세를 예측하고, AI가 X선·CT 영상에서 이상 패턴을 찾아 진단을 돕습니다. 개인정보 보호 문제도 함께 말하세요. 책 속 내용과 교과서 내용은 구분해서 말하세요.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소단원을 한 표로 정리합니다. 핵심은 기술이 만능이 아니라는 점입니다. 모든 기술에는 한계가 있고, 그 한계가 사회적 문제로 이어질 수 있습니다. 기술 자체는 중립이고 어떻게 쓸지는 사람이 정합니다.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왼쪽 '새롭게 알게 된 점'은 예시 문장입니다. 본인이 실제로 느낀 점으로 바꿔서 말하세요. 추천 이유도 본인 생각에 맞게 고쳐도 좋습니다.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마무리: 기술은 도구이고, 그 기술을 어떻게 만들고 쓸지는 우리가 정합니다. 질문을 받겠습니다.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B123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371600"/>
            <a:ext cx="7863840" cy="14630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DARK">
    <p:bg>
      <p:bgPr>
        <a:solidFill>
          <a:srgbClr val="0B123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rtlCol="0"/>
          <a:lstStyle>
            <a:lvl1pPr algn="l" indent="0" marL="0">
              <a:buNone/>
              <a:defRPr lang="en-US" sz="2800" b="1" dirty="0">
                <a:solidFill>
                  <a:schemeClr val="bg1"/>
                </a:solidFill>
              </a:defRPr>
            </a:lvl1pPr>
          </a:lstStyle>
          <a:p>
            <a:pPr algn="l" indent="0" marL="0">
              <a:buNone/>
            </a:pPr>
            <a:endParaRPr lang="en-US" sz="2800" dirty="0"/>
          </a:p>
        </p:txBody>
      </p:sp>
      <p:sp>
        <p:nvSpPr>
          <p:cNvPr id="3" name="Text 0"/>
          <p:cNvSpPr txBox="1"/>
          <p:nvPr/>
        </p:nvSpPr>
        <p:spPr>
          <a:xfrm>
            <a:off x="457200" y="4709160"/>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AI 2041 · 통합과학2 Ⅲ. 과학과 미래 사회</a:t>
            </a:r>
            <a:endParaRPr lang="en-US" sz="10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731520"/>
            <a:ext cx="7863840" cy="365760"/>
          </a:xfrm>
          <a:prstGeom prst="rect">
            <a:avLst/>
          </a:prstGeom>
          <a:noFill/>
          <a:ln/>
        </p:spPr>
        <p:txBody>
          <a:bodyPr wrap="square" lIns="0" tIns="0" rIns="0" bIns="0" rtlCol="0" anchor="t"/>
          <a:lstStyle/>
          <a:p>
            <a:pPr indent="0" marL="0">
              <a:buNone/>
            </a:pPr>
            <a:r>
              <a:rPr lang="en-US" sz="1600" b="1" dirty="0">
                <a:solidFill>
                  <a:schemeClr val="accent1"/>
                </a:solidFill>
                <a:latin typeface="Malgun Gothic" pitchFamily="34" charset="0"/>
                <a:ea typeface="Malgun Gothic" pitchFamily="34" charset="-122"/>
                <a:cs typeface="Malgun Gothic" pitchFamily="34" charset="-120"/>
              </a:rPr>
              <a:t>#인공지능   #자율주행   #감염병 진단</a:t>
            </a:r>
            <a:endParaRPr lang="en-US" sz="1600" dirty="0"/>
          </a:p>
        </p:txBody>
      </p:sp>
      <p:sp>
        <p:nvSpPr>
          <p:cNvPr id="3" name="Text 0"/>
          <p:cNvSpPr/>
          <p:nvPr>
            <p:ph idx="100" type="title" hasCustomPrompt="1"/>
          </p:nvPr>
        </p:nvSpPr>
        <p:spPr>
          <a:xfrm>
            <a:off x="640080" y="1371600"/>
            <a:ext cx="7863840" cy="1463040"/>
          </a:xfrm>
          <a:prstGeom prst="rect">
            <a:avLst/>
          </a:prstGeom>
          <a:noFill/>
          <a:ln/>
        </p:spPr>
        <p:txBody>
          <a:bodyPr wrap="square" lIns="0" tIns="0" rIns="0" bIns="0" rtlCol="0" anchor="t"/>
          <a:lstStyle/>
          <a:p>
            <a:pPr algn="l" indent="0" marL="0">
              <a:buNone/>
            </a:pPr>
            <a:r>
              <a:rPr lang="en-US" sz="4000" b="1" dirty="0">
                <a:solidFill>
                  <a:schemeClr val="bg1"/>
                </a:solidFill>
              </a:rPr>
              <a:t>AI 2041, 소설 속 기술의</a:t>
            </a:r>
            <a:endParaRPr lang="en-US" sz="4000" dirty="0"/>
          </a:p>
          <a:p>
            <a:pPr algn="l" indent="0" marL="0">
              <a:buNone/>
            </a:pPr>
            <a:r>
              <a:rPr lang="en-US" sz="4000" b="1" dirty="0">
                <a:solidFill>
                  <a:schemeClr val="bg1"/>
                </a:solidFill>
              </a:rPr>
              <a:t>원리를 파헤치다</a:t>
            </a:r>
            <a:endParaRPr lang="en-US" sz="4000" dirty="0"/>
          </a:p>
        </p:txBody>
      </p:sp>
      <p:sp>
        <p:nvSpPr>
          <p:cNvPr id="4" name="Text 2"/>
          <p:cNvSpPr txBox="1"/>
          <p:nvPr/>
        </p:nvSpPr>
        <p:spPr>
          <a:xfrm>
            <a:off x="640080" y="3246120"/>
            <a:ext cx="7863840" cy="365760"/>
          </a:xfrm>
          <a:prstGeom prst="rect">
            <a:avLst/>
          </a:prstGeom>
          <a:noFill/>
          <a:ln/>
        </p:spPr>
        <p:txBody>
          <a:bodyPr wrap="square" lIns="0" tIns="0" rIns="0" bIns="0" rtlCol="0" anchor="t"/>
          <a:lstStyle/>
          <a:p>
            <a:pPr indent="0" marL="0">
              <a:buNone/>
            </a:pPr>
            <a:r>
              <a:rPr lang="en-US" sz="1800" dirty="0">
                <a:solidFill>
                  <a:schemeClr val="accent6"/>
                </a:solidFill>
                <a:latin typeface="Malgun Gothic" pitchFamily="34" charset="0"/>
                <a:ea typeface="Malgun Gothic" pitchFamily="34" charset="-122"/>
                <a:cs typeface="Malgun Gothic" pitchFamily="34" charset="-120"/>
              </a:rPr>
              <a:t>카이푸 리 · 천치판 지음</a:t>
            </a:r>
            <a:endParaRPr lang="en-US" sz="1800" dirty="0"/>
          </a:p>
        </p:txBody>
      </p:sp>
      <p:sp>
        <p:nvSpPr>
          <p:cNvPr id="5" name="Text 3"/>
          <p:cNvSpPr txBox="1"/>
          <p:nvPr/>
        </p:nvSpPr>
        <p:spPr>
          <a:xfrm>
            <a:off x="640080" y="3749040"/>
            <a:ext cx="7863840" cy="365760"/>
          </a:xfrm>
          <a:prstGeom prst="rect">
            <a:avLst/>
          </a:prstGeom>
          <a:noFill/>
          <a:ln/>
        </p:spPr>
        <p:txBody>
          <a:bodyPr wrap="square" lIns="0" tIns="0" rIns="0" bIns="0" rtlCol="0" anchor="t"/>
          <a:lstStyle/>
          <a:p>
            <a:pPr indent="0" marL="0">
              <a:buNone/>
            </a:pPr>
            <a:r>
              <a:rPr lang="en-US" sz="1400" dirty="0">
                <a:solidFill>
                  <a:schemeClr val="accent6"/>
                </a:solidFill>
                <a:latin typeface="Malgun Gothic" pitchFamily="34" charset="0"/>
                <a:ea typeface="Malgun Gothic" pitchFamily="34" charset="-122"/>
                <a:cs typeface="Malgun Gothic" pitchFamily="34" charset="-120"/>
              </a:rPr>
              <a:t>통합과학2 Ⅲ. 과학과 미래 사회 연계 도서 소개  |  발표자: (이름)</a:t>
            </a:r>
            <a:endParaRPr lang="en-US" sz="1400" dirty="0"/>
          </a:p>
        </p:txBody>
      </p:sp>
      <p:sp>
        <p:nvSpPr>
          <p:cNvPr id="6" name="line"/>
          <p:cNvSpPr/>
          <p:nvPr/>
        </p:nvSpPr>
        <p:spPr>
          <a:xfrm flipV="1">
            <a:off x="7315200" y="3977640"/>
            <a:ext cx="548640" cy="320040"/>
          </a:xfrm>
          <a:prstGeom prst="line">
            <a:avLst/>
          </a:prstGeom>
          <a:noFill/>
          <a:ln w="19050">
            <a:solidFill>
              <a:schemeClr val="accent2"/>
            </a:solidFill>
            <a:prstDash val="solid"/>
          </a:ln>
        </p:spPr>
      </p:sp>
      <p:sp>
        <p:nvSpPr>
          <p:cNvPr id="7" name="line"/>
          <p:cNvSpPr/>
          <p:nvPr/>
        </p:nvSpPr>
        <p:spPr>
          <a:xfrm>
            <a:off x="7863840" y="3977640"/>
            <a:ext cx="548640" cy="320040"/>
          </a:xfrm>
          <a:prstGeom prst="line">
            <a:avLst/>
          </a:prstGeom>
          <a:noFill/>
          <a:ln w="19050">
            <a:solidFill>
              <a:schemeClr val="accent2"/>
            </a:solidFill>
            <a:prstDash val="solid"/>
          </a:ln>
        </p:spPr>
      </p:sp>
      <p:sp>
        <p:nvSpPr>
          <p:cNvPr id="8" name="line"/>
          <p:cNvSpPr/>
          <p:nvPr/>
        </p:nvSpPr>
        <p:spPr>
          <a:xfrm>
            <a:off x="7315200" y="4297680"/>
            <a:ext cx="548640" cy="365760"/>
          </a:xfrm>
          <a:prstGeom prst="line">
            <a:avLst/>
          </a:prstGeom>
          <a:noFill/>
          <a:ln w="19050">
            <a:solidFill>
              <a:schemeClr val="accent2"/>
            </a:solidFill>
            <a:prstDash val="solid"/>
          </a:ln>
        </p:spPr>
      </p:sp>
      <p:sp>
        <p:nvSpPr>
          <p:cNvPr id="9" name="line"/>
          <p:cNvSpPr/>
          <p:nvPr/>
        </p:nvSpPr>
        <p:spPr>
          <a:xfrm flipV="1">
            <a:off x="7863840" y="4297680"/>
            <a:ext cx="548640" cy="365760"/>
          </a:xfrm>
          <a:prstGeom prst="line">
            <a:avLst/>
          </a:prstGeom>
          <a:noFill/>
          <a:ln w="19050">
            <a:solidFill>
              <a:schemeClr val="accent2"/>
            </a:solidFill>
            <a:prstDash val="solid"/>
          </a:ln>
        </p:spPr>
      </p:sp>
      <p:sp>
        <p:nvSpPr>
          <p:cNvPr id="10" name="node"/>
          <p:cNvSpPr/>
          <p:nvPr/>
        </p:nvSpPr>
        <p:spPr>
          <a:xfrm>
            <a:off x="7232904" y="4215384"/>
            <a:ext cx="164592" cy="164592"/>
          </a:xfrm>
          <a:prstGeom prst="ellipse">
            <a:avLst/>
          </a:prstGeom>
          <a:solidFill>
            <a:schemeClr val="accent1"/>
          </a:solidFill>
          <a:ln w="12700">
            <a:solidFill>
              <a:schemeClr val="accent1"/>
            </a:solidFill>
            <a:prstDash val="solid"/>
          </a:ln>
        </p:spPr>
      </p:sp>
      <p:sp>
        <p:nvSpPr>
          <p:cNvPr id="11" name="node"/>
          <p:cNvSpPr/>
          <p:nvPr/>
        </p:nvSpPr>
        <p:spPr>
          <a:xfrm>
            <a:off x="7781544" y="3895344"/>
            <a:ext cx="164592" cy="164592"/>
          </a:xfrm>
          <a:prstGeom prst="ellipse">
            <a:avLst/>
          </a:prstGeom>
          <a:solidFill>
            <a:schemeClr val="accent1"/>
          </a:solidFill>
          <a:ln w="12700">
            <a:solidFill>
              <a:schemeClr val="accent1"/>
            </a:solidFill>
            <a:prstDash val="solid"/>
          </a:ln>
        </p:spPr>
      </p:sp>
      <p:sp>
        <p:nvSpPr>
          <p:cNvPr id="12" name="node"/>
          <p:cNvSpPr/>
          <p:nvPr/>
        </p:nvSpPr>
        <p:spPr>
          <a:xfrm>
            <a:off x="8330184" y="4215384"/>
            <a:ext cx="164592" cy="164592"/>
          </a:xfrm>
          <a:prstGeom prst="ellipse">
            <a:avLst/>
          </a:prstGeom>
          <a:solidFill>
            <a:schemeClr val="accent1"/>
          </a:solidFill>
          <a:ln w="12700">
            <a:solidFill>
              <a:schemeClr val="accent1"/>
            </a:solidFill>
            <a:prstDash val="solid"/>
          </a:ln>
        </p:spPr>
      </p:sp>
      <p:sp>
        <p:nvSpPr>
          <p:cNvPr id="13" name="node"/>
          <p:cNvSpPr/>
          <p:nvPr/>
        </p:nvSpPr>
        <p:spPr>
          <a:xfrm>
            <a:off x="7781544" y="4581144"/>
            <a:ext cx="164592" cy="164592"/>
          </a:xfrm>
          <a:prstGeom prst="ellipse">
            <a:avLst/>
          </a:prstGeom>
          <a:solidFill>
            <a:schemeClr val="accent1"/>
          </a:solidFill>
          <a:ln w="12700">
            <a:solidFill>
              <a:schemeClr val="accent1"/>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2800" b="1" dirty="0">
                <a:solidFill>
                  <a:schemeClr val="bg1"/>
                </a:solidFill>
              </a:rPr>
              <a:t>2041년의 AI는 어떤 원리로 작동할까?</a:t>
            </a:r>
            <a:endParaRPr lang="en-US" sz="2800" dirty="0"/>
          </a:p>
        </p:txBody>
      </p:sp>
      <p:sp>
        <p:nvSpPr>
          <p:cNvPr id="4" name="card-stat1"/>
          <p:cNvSpPr/>
          <p:nvPr/>
        </p:nvSpPr>
        <p:spPr>
          <a:xfrm>
            <a:off x="457200" y="1280160"/>
            <a:ext cx="3840480" cy="3108960"/>
          </a:xfrm>
          <a:prstGeom prst="roundRect">
            <a:avLst>
              <a:gd name="adj" fmla="val 3529"/>
            </a:avLst>
          </a:prstGeom>
          <a:solidFill>
            <a:schemeClr val="tx2"/>
          </a:solidFill>
          <a:ln w="12700">
            <a:solidFill>
              <a:schemeClr val="tx2"/>
            </a:solidFill>
            <a:prstDash val="solid"/>
          </a:ln>
        </p:spPr>
      </p:sp>
      <p:sp>
        <p:nvSpPr>
          <p:cNvPr id="5" name="Text 2"/>
          <p:cNvSpPr txBox="1"/>
          <p:nvPr/>
        </p:nvSpPr>
        <p:spPr>
          <a:xfrm>
            <a:off x="731520" y="1508760"/>
            <a:ext cx="3291840" cy="1005840"/>
          </a:xfrm>
          <a:prstGeom prst="rect">
            <a:avLst/>
          </a:prstGeom>
          <a:noFill/>
          <a:ln/>
        </p:spPr>
        <p:txBody>
          <a:bodyPr wrap="square" lIns="0" tIns="0" rIns="0" bIns="0" rtlCol="0" anchor="t"/>
          <a:lstStyle/>
          <a:p>
            <a:pPr indent="0" marL="0">
              <a:buNone/>
            </a:pPr>
            <a:r>
              <a:rPr lang="en-US" sz="6000" b="1" dirty="0">
                <a:solidFill>
                  <a:schemeClr val="accent1"/>
                </a:solidFill>
                <a:latin typeface="Malgun Gothic" pitchFamily="34" charset="0"/>
                <a:ea typeface="Malgun Gothic" pitchFamily="34" charset="-122"/>
                <a:cs typeface="Malgun Gothic" pitchFamily="34" charset="-120"/>
              </a:rPr>
              <a:t>10편</a:t>
            </a:r>
            <a:endParaRPr lang="en-US" sz="6000" dirty="0"/>
          </a:p>
        </p:txBody>
      </p:sp>
      <p:sp>
        <p:nvSpPr>
          <p:cNvPr id="6" name="Text 3"/>
          <p:cNvSpPr txBox="1"/>
          <p:nvPr/>
        </p:nvSpPr>
        <p:spPr>
          <a:xfrm>
            <a:off x="731520" y="2606040"/>
            <a:ext cx="3291840" cy="365760"/>
          </a:xfrm>
          <a:prstGeom prst="rect">
            <a:avLst/>
          </a:prstGeom>
          <a:noFill/>
          <a:ln/>
        </p:spPr>
        <p:txBody>
          <a:bodyPr wrap="square" lIns="0" tIns="0" rIns="0" bIns="0" rtlCol="0" anchor="t"/>
          <a:lstStyle/>
          <a:p>
            <a:pPr indent="0" marL="0">
              <a:buNone/>
            </a:pPr>
            <a:r>
              <a:rPr lang="en-US" sz="1600" dirty="0">
                <a:solidFill>
                  <a:schemeClr val="bg1"/>
                </a:solidFill>
                <a:latin typeface="Malgun Gothic" pitchFamily="34" charset="0"/>
                <a:ea typeface="Malgun Gothic" pitchFamily="34" charset="-122"/>
                <a:cs typeface="Malgun Gothic" pitchFamily="34" charset="-120"/>
              </a:rPr>
              <a:t>2041년을 배경으로 한 단편소설</a:t>
            </a:r>
            <a:endParaRPr lang="en-US" sz="1600" dirty="0"/>
          </a:p>
        </p:txBody>
      </p:sp>
      <p:sp>
        <p:nvSpPr>
          <p:cNvPr id="7" name="Text 4"/>
          <p:cNvSpPr txBox="1"/>
          <p:nvPr/>
        </p:nvSpPr>
        <p:spPr>
          <a:xfrm>
            <a:off x="731520" y="3108960"/>
            <a:ext cx="3291840" cy="1005840"/>
          </a:xfrm>
          <a:prstGeom prst="rect">
            <a:avLst/>
          </a:prstGeom>
          <a:noFill/>
          <a:ln/>
        </p:spPr>
        <p:txBody>
          <a:bodyPr wrap="square" lIns="0" tIns="0" rIns="0" bIns="0" rtlCol="0" anchor="t"/>
          <a:lstStyle/>
          <a:p>
            <a:pPr indent="0" marL="0">
              <a:buNone/>
            </a:pPr>
            <a:r>
              <a:rPr lang="en-US" sz="1400" dirty="0">
                <a:solidFill>
                  <a:schemeClr val="accent6"/>
                </a:solidFill>
                <a:latin typeface="Malgun Gothic" pitchFamily="34" charset="0"/>
                <a:ea typeface="Malgun Gothic" pitchFamily="34" charset="-122"/>
                <a:cs typeface="Malgun Gothic" pitchFamily="34" charset="-120"/>
              </a:rPr>
              <a:t>각 편마다 실제 기술 해설이 붙어 있어 '소설 → 원리 → 현실'로 읽을 수 있다</a:t>
            </a:r>
            <a:endParaRPr lang="en-US" sz="1400" dirty="0"/>
          </a:p>
        </p:txBody>
      </p:sp>
      <p:sp>
        <p:nvSpPr>
          <p:cNvPr id="8" name="card-author1"/>
          <p:cNvSpPr/>
          <p:nvPr/>
        </p:nvSpPr>
        <p:spPr>
          <a:xfrm>
            <a:off x="4572000" y="1280160"/>
            <a:ext cx="4114800" cy="1417320"/>
          </a:xfrm>
          <a:prstGeom prst="roundRect">
            <a:avLst>
              <a:gd name="adj" fmla="val 7742"/>
            </a:avLst>
          </a:prstGeom>
          <a:solidFill>
            <a:schemeClr val="tx2"/>
          </a:solidFill>
          <a:ln w="12700">
            <a:solidFill>
              <a:schemeClr val="tx2"/>
            </a:solidFill>
            <a:prstDash val="solid"/>
          </a:ln>
        </p:spPr>
      </p:sp>
      <p:sp>
        <p:nvSpPr>
          <p:cNvPr id="9" name="badge-author1"/>
          <p:cNvSpPr/>
          <p:nvPr/>
        </p:nvSpPr>
        <p:spPr>
          <a:xfrm>
            <a:off x="4800600" y="1508760"/>
            <a:ext cx="457200" cy="457200"/>
          </a:xfrm>
          <a:prstGeom prst="ellipse">
            <a:avLst/>
          </a:prstGeom>
          <a:solidFill>
            <a:schemeClr val="accent3"/>
          </a:solidFill>
          <a:ln w="12700">
            <a:solidFill>
              <a:schemeClr val="accent3"/>
            </a:solidFill>
            <a:prstDash val="solid"/>
          </a:ln>
        </p:spPr>
      </p:sp>
      <p:sp>
        <p:nvSpPr>
          <p:cNvPr id="10" name="Text 7"/>
          <p:cNvSpPr txBox="1"/>
          <p:nvPr/>
        </p:nvSpPr>
        <p:spPr>
          <a:xfrm>
            <a:off x="4800600" y="1508760"/>
            <a:ext cx="457200" cy="457200"/>
          </a:xfrm>
          <a:prstGeom prst="rect">
            <a:avLst/>
          </a:prstGeom>
          <a:noFill/>
          <a:ln/>
        </p:spPr>
        <p:txBody>
          <a:bodyPr wrap="square" lIns="0" tIns="0" rIns="0" bIns="0" rtlCol="0" anchor="ctr"/>
          <a:lstStyle/>
          <a:p>
            <a:pPr algn="ctr" indent="0" marL="0">
              <a:buNone/>
            </a:pPr>
            <a:r>
              <a:rPr lang="en-US" sz="1400" b="1" dirty="0">
                <a:solidFill>
                  <a:schemeClr val="tx1"/>
                </a:solidFill>
                <a:latin typeface="Malgun Gothic" pitchFamily="34" charset="0"/>
                <a:ea typeface="Malgun Gothic" pitchFamily="34" charset="-122"/>
                <a:cs typeface="Malgun Gothic" pitchFamily="34" charset="-120"/>
              </a:rPr>
              <a:t>AI</a:t>
            </a:r>
            <a:endParaRPr lang="en-US" sz="1400" dirty="0"/>
          </a:p>
        </p:txBody>
      </p:sp>
      <p:sp>
        <p:nvSpPr>
          <p:cNvPr id="11" name="Text 8"/>
          <p:cNvSpPr txBox="1"/>
          <p:nvPr/>
        </p:nvSpPr>
        <p:spPr>
          <a:xfrm>
            <a:off x="5440680" y="1463040"/>
            <a:ext cx="3108960" cy="365760"/>
          </a:xfrm>
          <a:prstGeom prst="rect">
            <a:avLst/>
          </a:prstGeom>
          <a:noFill/>
          <a:ln/>
        </p:spPr>
        <p:txBody>
          <a:bodyPr wrap="square" lIns="0" tIns="0" rIns="0" bIns="0" rtlCol="0" anchor="t"/>
          <a:lstStyle/>
          <a:p>
            <a:pPr indent="0" marL="0">
              <a:buNone/>
            </a:pPr>
            <a:r>
              <a:rPr lang="en-US" sz="1800" b="1" dirty="0">
                <a:solidFill>
                  <a:schemeClr val="bg1"/>
                </a:solidFill>
                <a:latin typeface="Malgun Gothic" pitchFamily="34" charset="0"/>
                <a:ea typeface="Malgun Gothic" pitchFamily="34" charset="-122"/>
                <a:cs typeface="Malgun Gothic" pitchFamily="34" charset="-120"/>
              </a:rPr>
              <a:t>카이푸 리</a:t>
            </a:r>
            <a:endParaRPr lang="en-US" sz="1800" dirty="0"/>
          </a:p>
        </p:txBody>
      </p:sp>
      <p:sp>
        <p:nvSpPr>
          <p:cNvPr id="12" name="Text 9"/>
          <p:cNvSpPr txBox="1"/>
          <p:nvPr/>
        </p:nvSpPr>
        <p:spPr>
          <a:xfrm>
            <a:off x="5440680" y="1874520"/>
            <a:ext cx="3108960" cy="731520"/>
          </a:xfrm>
          <a:prstGeom prst="rect">
            <a:avLst/>
          </a:prstGeom>
          <a:noFill/>
          <a:ln/>
        </p:spPr>
        <p:txBody>
          <a:bodyPr wrap="square" lIns="0" tIns="0" rIns="0" bIns="0" rtlCol="0" anchor="t"/>
          <a:lstStyle/>
          <a:p>
            <a:pPr indent="0" marL="0">
              <a:buNone/>
            </a:pPr>
            <a:r>
              <a:rPr lang="en-US" sz="1400" dirty="0">
                <a:solidFill>
                  <a:schemeClr val="accent6"/>
                </a:solidFill>
                <a:latin typeface="Malgun Gothic" pitchFamily="34" charset="0"/>
                <a:ea typeface="Malgun Gothic" pitchFamily="34" charset="-122"/>
                <a:cs typeface="Malgun Gothic" pitchFamily="34" charset="-120"/>
              </a:rPr>
              <a:t>AI 전문가 (구글 차이나 사장 출신)</a:t>
            </a:r>
            <a:endParaRPr lang="en-US" sz="1400" dirty="0"/>
          </a:p>
          <a:p>
            <a:pPr indent="0" marL="0">
              <a:buNone/>
            </a:pPr>
            <a:r>
              <a:rPr lang="en-US" sz="1400" dirty="0">
                <a:solidFill>
                  <a:schemeClr val="accent6"/>
                </a:solidFill>
                <a:latin typeface="Malgun Gothic" pitchFamily="34" charset="0"/>
                <a:ea typeface="Malgun Gothic" pitchFamily="34" charset="-122"/>
                <a:cs typeface="Malgun Gothic" pitchFamily="34" charset="-120"/>
              </a:rPr>
              <a:t>기술 해설 담당</a:t>
            </a:r>
            <a:endParaRPr lang="en-US" sz="1400" dirty="0"/>
          </a:p>
        </p:txBody>
      </p:sp>
      <p:sp>
        <p:nvSpPr>
          <p:cNvPr id="13" name="card-author2"/>
          <p:cNvSpPr/>
          <p:nvPr/>
        </p:nvSpPr>
        <p:spPr>
          <a:xfrm>
            <a:off x="4572000" y="2971800"/>
            <a:ext cx="4114800" cy="1417320"/>
          </a:xfrm>
          <a:prstGeom prst="roundRect">
            <a:avLst>
              <a:gd name="adj" fmla="val 7742"/>
            </a:avLst>
          </a:prstGeom>
          <a:solidFill>
            <a:schemeClr val="tx2"/>
          </a:solidFill>
          <a:ln w="12700">
            <a:solidFill>
              <a:schemeClr val="tx2"/>
            </a:solidFill>
            <a:prstDash val="solid"/>
          </a:ln>
        </p:spPr>
      </p:sp>
      <p:sp>
        <p:nvSpPr>
          <p:cNvPr id="14" name="badge-author2"/>
          <p:cNvSpPr/>
          <p:nvPr/>
        </p:nvSpPr>
        <p:spPr>
          <a:xfrm>
            <a:off x="4800600" y="3200400"/>
            <a:ext cx="457200" cy="457200"/>
          </a:xfrm>
          <a:prstGeom prst="ellipse">
            <a:avLst/>
          </a:prstGeom>
          <a:solidFill>
            <a:schemeClr val="accent2"/>
          </a:solidFill>
          <a:ln w="12700">
            <a:solidFill>
              <a:schemeClr val="accent2"/>
            </a:solidFill>
            <a:prstDash val="solid"/>
          </a:ln>
        </p:spPr>
      </p:sp>
      <p:sp>
        <p:nvSpPr>
          <p:cNvPr id="15" name="Text 12"/>
          <p:cNvSpPr txBox="1"/>
          <p:nvPr/>
        </p:nvSpPr>
        <p:spPr>
          <a:xfrm>
            <a:off x="4800600" y="3200400"/>
            <a:ext cx="457200" cy="457200"/>
          </a:xfrm>
          <a:prstGeom prst="rect">
            <a:avLst/>
          </a:prstGeom>
          <a:noFill/>
          <a:ln/>
        </p:spPr>
        <p:txBody>
          <a:bodyPr wrap="square" lIns="0" tIns="0" rIns="0" bIns="0" rtlCol="0" anchor="ctr"/>
          <a:lstStyle/>
          <a:p>
            <a:pPr algn="ctr" indent="0" marL="0">
              <a:buNone/>
            </a:pPr>
            <a:r>
              <a:rPr lang="en-US" sz="1400" b="1" dirty="0">
                <a:solidFill>
                  <a:schemeClr val="tx1"/>
                </a:solidFill>
                <a:latin typeface="Malgun Gothic" pitchFamily="34" charset="0"/>
                <a:ea typeface="Malgun Gothic" pitchFamily="34" charset="-122"/>
                <a:cs typeface="Malgun Gothic" pitchFamily="34" charset="-120"/>
              </a:rPr>
              <a:t>SF</a:t>
            </a:r>
            <a:endParaRPr lang="en-US" sz="1400" dirty="0"/>
          </a:p>
        </p:txBody>
      </p:sp>
      <p:sp>
        <p:nvSpPr>
          <p:cNvPr id="16" name="Text 13"/>
          <p:cNvSpPr txBox="1"/>
          <p:nvPr/>
        </p:nvSpPr>
        <p:spPr>
          <a:xfrm>
            <a:off x="5440680" y="3154680"/>
            <a:ext cx="3108960" cy="365760"/>
          </a:xfrm>
          <a:prstGeom prst="rect">
            <a:avLst/>
          </a:prstGeom>
          <a:noFill/>
          <a:ln/>
        </p:spPr>
        <p:txBody>
          <a:bodyPr wrap="square" lIns="0" tIns="0" rIns="0" bIns="0" rtlCol="0" anchor="t"/>
          <a:lstStyle/>
          <a:p>
            <a:pPr indent="0" marL="0">
              <a:buNone/>
            </a:pPr>
            <a:r>
              <a:rPr lang="en-US" sz="1800" b="1" dirty="0">
                <a:solidFill>
                  <a:schemeClr val="bg1"/>
                </a:solidFill>
                <a:latin typeface="Malgun Gothic" pitchFamily="34" charset="0"/>
                <a:ea typeface="Malgun Gothic" pitchFamily="34" charset="-122"/>
                <a:cs typeface="Malgun Gothic" pitchFamily="34" charset="-120"/>
              </a:rPr>
              <a:t>천치판</a:t>
            </a:r>
            <a:endParaRPr lang="en-US" sz="1800" dirty="0"/>
          </a:p>
        </p:txBody>
      </p:sp>
      <p:sp>
        <p:nvSpPr>
          <p:cNvPr id="17" name="Text 14"/>
          <p:cNvSpPr txBox="1"/>
          <p:nvPr/>
        </p:nvSpPr>
        <p:spPr>
          <a:xfrm>
            <a:off x="5440680" y="3566160"/>
            <a:ext cx="3108960" cy="731520"/>
          </a:xfrm>
          <a:prstGeom prst="rect">
            <a:avLst/>
          </a:prstGeom>
          <a:noFill/>
          <a:ln/>
        </p:spPr>
        <p:txBody>
          <a:bodyPr wrap="square" lIns="0" tIns="0" rIns="0" bIns="0" rtlCol="0" anchor="t"/>
          <a:lstStyle/>
          <a:p>
            <a:pPr indent="0" marL="0">
              <a:buNone/>
            </a:pPr>
            <a:r>
              <a:rPr lang="en-US" sz="1400" dirty="0">
                <a:solidFill>
                  <a:schemeClr val="accent6"/>
                </a:solidFill>
                <a:latin typeface="Malgun Gothic" pitchFamily="34" charset="0"/>
                <a:ea typeface="Malgun Gothic" pitchFamily="34" charset="-122"/>
                <a:cs typeface="Malgun Gothic" pitchFamily="34" charset="-120"/>
              </a:rPr>
              <a:t>SF 소설가</a:t>
            </a:r>
            <a:endParaRPr lang="en-US" sz="1400" dirty="0"/>
          </a:p>
          <a:p>
            <a:pPr indent="0" marL="0">
              <a:buNone/>
            </a:pPr>
            <a:r>
              <a:rPr lang="en-US" sz="1400" dirty="0">
                <a:solidFill>
                  <a:schemeClr val="accent6"/>
                </a:solidFill>
                <a:latin typeface="Malgun Gothic" pitchFamily="34" charset="0"/>
                <a:ea typeface="Malgun Gothic" pitchFamily="34" charset="-122"/>
                <a:cs typeface="Malgun Gothic" pitchFamily="34" charset="-120"/>
              </a:rPr>
              <a:t>단편소설 담당</a:t>
            </a:r>
            <a:endParaRPr lang="en-US" sz="14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2800" b="1" dirty="0">
                <a:solidFill>
                  <a:schemeClr val="bg1"/>
                </a:solidFill>
              </a:rPr>
              <a:t>교과서 소단원 3개 × 단편 3편</a:t>
            </a:r>
            <a:endParaRPr lang="en-US" sz="2800" dirty="0"/>
          </a:p>
        </p:txBody>
      </p:sp>
      <p:sp>
        <p:nvSpPr>
          <p:cNvPr id="4" name="card-unit1"/>
          <p:cNvSpPr/>
          <p:nvPr/>
        </p:nvSpPr>
        <p:spPr>
          <a:xfrm>
            <a:off x="457200" y="1280160"/>
            <a:ext cx="2651760" cy="3108960"/>
          </a:xfrm>
          <a:prstGeom prst="roundRect">
            <a:avLst>
              <a:gd name="adj" fmla="val 4138"/>
            </a:avLst>
          </a:prstGeom>
          <a:solidFill>
            <a:schemeClr val="tx2"/>
          </a:solidFill>
          <a:ln w="12700">
            <a:solidFill>
              <a:schemeClr val="tx2"/>
            </a:solidFill>
            <a:prstDash val="solid"/>
          </a:ln>
        </p:spPr>
      </p:sp>
      <p:sp>
        <p:nvSpPr>
          <p:cNvPr id="5" name="Text 2"/>
          <p:cNvSpPr txBox="1"/>
          <p:nvPr/>
        </p:nvSpPr>
        <p:spPr>
          <a:xfrm>
            <a:off x="685800" y="1463040"/>
            <a:ext cx="2194560" cy="274320"/>
          </a:xfrm>
          <a:prstGeom prst="rect">
            <a:avLst/>
          </a:prstGeom>
          <a:noFill/>
          <a:ln/>
        </p:spPr>
        <p:txBody>
          <a:bodyPr wrap="square" lIns="0" tIns="0" rIns="0" bIns="0" rtlCol="0" anchor="t"/>
          <a:lstStyle/>
          <a:p>
            <a:pPr indent="0" marL="0">
              <a:buNone/>
            </a:pPr>
            <a:r>
              <a:rPr lang="en-US" sz="1200" b="1" dirty="0">
                <a:solidFill>
                  <a:schemeClr val="accent1"/>
                </a:solidFill>
                <a:latin typeface="Malgun Gothic" pitchFamily="34" charset="0"/>
                <a:ea typeface="Malgun Gothic" pitchFamily="34" charset="-122"/>
                <a:cs typeface="Malgun Gothic" pitchFamily="34" charset="-120"/>
              </a:rPr>
              <a:t>소단원 ①</a:t>
            </a:r>
            <a:endParaRPr lang="en-US" sz="1200" dirty="0"/>
          </a:p>
        </p:txBody>
      </p:sp>
      <p:sp>
        <p:nvSpPr>
          <p:cNvPr id="6" name="Text 3"/>
          <p:cNvSpPr txBox="1"/>
          <p:nvPr/>
        </p:nvSpPr>
        <p:spPr>
          <a:xfrm>
            <a:off x="685800" y="1783080"/>
            <a:ext cx="2194560" cy="640080"/>
          </a:xfrm>
          <a:prstGeom prst="rect">
            <a:avLst/>
          </a:prstGeom>
          <a:noFill/>
          <a:ln/>
        </p:spPr>
        <p:txBody>
          <a:bodyPr wrap="square" lIns="0" tIns="0" rIns="0" bIns="0" rtlCol="0" anchor="t"/>
          <a:lstStyle/>
          <a:p>
            <a:pPr indent="0" marL="0">
              <a:buNone/>
            </a:pPr>
            <a:r>
              <a:rPr lang="en-US" sz="1800" b="1" dirty="0">
                <a:solidFill>
                  <a:schemeClr val="bg1"/>
                </a:solidFill>
                <a:latin typeface="Malgun Gothic" pitchFamily="34" charset="0"/>
                <a:ea typeface="Malgun Gothic" pitchFamily="34" charset="-122"/>
                <a:cs typeface="Malgun Gothic" pitchFamily="34" charset="-120"/>
              </a:rPr>
              <a:t>인공지능과 빅데이터</a:t>
            </a:r>
            <a:endParaRPr lang="en-US" sz="1800" dirty="0"/>
          </a:p>
        </p:txBody>
      </p:sp>
      <p:sp>
        <p:nvSpPr>
          <p:cNvPr id="7" name="arrow-down1"/>
          <p:cNvSpPr/>
          <p:nvPr/>
        </p:nvSpPr>
        <p:spPr>
          <a:xfrm>
            <a:off x="1645920" y="2468880"/>
            <a:ext cx="274320" cy="320040"/>
          </a:xfrm>
          <a:prstGeom prst="downArrow">
            <a:avLst/>
          </a:prstGeom>
          <a:solidFill>
            <a:schemeClr val="accent1"/>
          </a:solidFill>
          <a:ln w="12700">
            <a:solidFill>
              <a:schemeClr val="accent1"/>
            </a:solidFill>
            <a:prstDash val="solid"/>
          </a:ln>
        </p:spPr>
      </p:sp>
      <p:sp>
        <p:nvSpPr>
          <p:cNvPr id="8" name="Text 5"/>
          <p:cNvSpPr txBox="1"/>
          <p:nvPr/>
        </p:nvSpPr>
        <p:spPr>
          <a:xfrm>
            <a:off x="685800" y="2880360"/>
            <a:ext cx="2194560" cy="365760"/>
          </a:xfrm>
          <a:prstGeom prst="rect">
            <a:avLst/>
          </a:prstGeom>
          <a:noFill/>
          <a:ln/>
        </p:spPr>
        <p:txBody>
          <a:bodyPr wrap="square" lIns="0" tIns="0" rIns="0" bIns="0" rtlCol="0" anchor="t"/>
          <a:lstStyle/>
          <a:p>
            <a:pPr indent="0" marL="0">
              <a:buNone/>
            </a:pPr>
            <a:r>
              <a:rPr lang="en-US" sz="1600" b="1" dirty="0">
                <a:solidFill>
                  <a:schemeClr val="accent1"/>
                </a:solidFill>
                <a:latin typeface="Malgun Gothic" pitchFamily="34" charset="0"/>
                <a:ea typeface="Malgun Gothic" pitchFamily="34" charset="-122"/>
                <a:cs typeface="Malgun Gothic" pitchFamily="34" charset="-120"/>
              </a:rPr>
              <a:t>「황금 코끼리」</a:t>
            </a:r>
            <a:endParaRPr lang="en-US" sz="1600" dirty="0"/>
          </a:p>
        </p:txBody>
      </p:sp>
      <p:sp>
        <p:nvSpPr>
          <p:cNvPr id="9" name="Text 6"/>
          <p:cNvSpPr txBox="1"/>
          <p:nvPr/>
        </p:nvSpPr>
        <p:spPr>
          <a:xfrm>
            <a:off x="685800" y="3337560"/>
            <a:ext cx="2194560" cy="914400"/>
          </a:xfrm>
          <a:prstGeom prst="rect">
            <a:avLst/>
          </a:prstGeom>
          <a:noFill/>
          <a:ln/>
        </p:spPr>
        <p:txBody>
          <a:bodyPr wrap="square" lIns="0" tIns="0" rIns="0" bIns="0" rtlCol="0" anchor="t"/>
          <a:lstStyle/>
          <a:p>
            <a:pPr indent="0" marL="0">
              <a:buNone/>
            </a:pPr>
            <a:r>
              <a:rPr lang="en-US" sz="1400" dirty="0">
                <a:solidFill>
                  <a:schemeClr val="accent6"/>
                </a:solidFill>
                <a:latin typeface="Malgun Gothic" pitchFamily="34" charset="0"/>
                <a:ea typeface="Malgun Gothic" pitchFamily="34" charset="-122"/>
                <a:cs typeface="Malgun Gothic" pitchFamily="34" charset="-120"/>
              </a:rPr>
              <a:t>딥러닝은 데이터에서 패턴을 스스로 학습한다</a:t>
            </a:r>
            <a:endParaRPr lang="en-US" sz="1400" dirty="0"/>
          </a:p>
        </p:txBody>
      </p:sp>
      <p:sp>
        <p:nvSpPr>
          <p:cNvPr id="10" name="card-unit2"/>
          <p:cNvSpPr/>
          <p:nvPr/>
        </p:nvSpPr>
        <p:spPr>
          <a:xfrm>
            <a:off x="3246120" y="1280160"/>
            <a:ext cx="2651760" cy="3108960"/>
          </a:xfrm>
          <a:prstGeom prst="roundRect">
            <a:avLst>
              <a:gd name="adj" fmla="val 4138"/>
            </a:avLst>
          </a:prstGeom>
          <a:solidFill>
            <a:schemeClr val="tx2"/>
          </a:solidFill>
          <a:ln w="12700">
            <a:solidFill>
              <a:schemeClr val="tx2"/>
            </a:solidFill>
            <a:prstDash val="solid"/>
          </a:ln>
        </p:spPr>
      </p:sp>
      <p:sp>
        <p:nvSpPr>
          <p:cNvPr id="11" name="Text 8"/>
          <p:cNvSpPr txBox="1"/>
          <p:nvPr/>
        </p:nvSpPr>
        <p:spPr>
          <a:xfrm>
            <a:off x="3474720" y="1463040"/>
            <a:ext cx="2194560" cy="274320"/>
          </a:xfrm>
          <a:prstGeom prst="rect">
            <a:avLst/>
          </a:prstGeom>
          <a:noFill/>
          <a:ln/>
        </p:spPr>
        <p:txBody>
          <a:bodyPr wrap="square" lIns="0" tIns="0" rIns="0" bIns="0" rtlCol="0" anchor="t"/>
          <a:lstStyle/>
          <a:p>
            <a:pPr indent="0" marL="0">
              <a:buNone/>
            </a:pPr>
            <a:r>
              <a:rPr lang="en-US" sz="1200" b="1" dirty="0">
                <a:solidFill>
                  <a:schemeClr val="accent3"/>
                </a:solidFill>
                <a:latin typeface="Malgun Gothic" pitchFamily="34" charset="0"/>
                <a:ea typeface="Malgun Gothic" pitchFamily="34" charset="-122"/>
                <a:cs typeface="Malgun Gothic" pitchFamily="34" charset="-120"/>
              </a:rPr>
              <a:t>소단원 ②</a:t>
            </a:r>
            <a:endParaRPr lang="en-US" sz="1200" dirty="0"/>
          </a:p>
        </p:txBody>
      </p:sp>
      <p:sp>
        <p:nvSpPr>
          <p:cNvPr id="12" name="Text 9"/>
          <p:cNvSpPr txBox="1"/>
          <p:nvPr/>
        </p:nvSpPr>
        <p:spPr>
          <a:xfrm>
            <a:off x="3474720" y="1783080"/>
            <a:ext cx="2194560" cy="640080"/>
          </a:xfrm>
          <a:prstGeom prst="rect">
            <a:avLst/>
          </a:prstGeom>
          <a:noFill/>
          <a:ln/>
        </p:spPr>
        <p:txBody>
          <a:bodyPr wrap="square" lIns="0" tIns="0" rIns="0" bIns="0" rtlCol="0" anchor="t"/>
          <a:lstStyle/>
          <a:p>
            <a:pPr indent="0" marL="0">
              <a:buNone/>
            </a:pPr>
            <a:r>
              <a:rPr lang="en-US" sz="1800" b="1" dirty="0">
                <a:solidFill>
                  <a:schemeClr val="bg1"/>
                </a:solidFill>
                <a:latin typeface="Malgun Gothic" pitchFamily="34" charset="0"/>
                <a:ea typeface="Malgun Gothic" pitchFamily="34" charset="-122"/>
                <a:cs typeface="Malgun Gothic" pitchFamily="34" charset="-120"/>
              </a:rPr>
              <a:t>센서와 자율 시스템</a:t>
            </a:r>
            <a:endParaRPr lang="en-US" sz="1800" dirty="0"/>
          </a:p>
        </p:txBody>
      </p:sp>
      <p:sp>
        <p:nvSpPr>
          <p:cNvPr id="13" name="arrow-down2"/>
          <p:cNvSpPr/>
          <p:nvPr/>
        </p:nvSpPr>
        <p:spPr>
          <a:xfrm>
            <a:off x="4434840" y="2468880"/>
            <a:ext cx="274320" cy="320040"/>
          </a:xfrm>
          <a:prstGeom prst="downArrow">
            <a:avLst/>
          </a:prstGeom>
          <a:solidFill>
            <a:schemeClr val="accent3"/>
          </a:solidFill>
          <a:ln w="12700">
            <a:solidFill>
              <a:schemeClr val="accent3"/>
            </a:solidFill>
            <a:prstDash val="solid"/>
          </a:ln>
        </p:spPr>
      </p:sp>
      <p:sp>
        <p:nvSpPr>
          <p:cNvPr id="14" name="Text 11"/>
          <p:cNvSpPr txBox="1"/>
          <p:nvPr/>
        </p:nvSpPr>
        <p:spPr>
          <a:xfrm>
            <a:off x="3474720" y="2880360"/>
            <a:ext cx="2194560" cy="365760"/>
          </a:xfrm>
          <a:prstGeom prst="rect">
            <a:avLst/>
          </a:prstGeom>
          <a:noFill/>
          <a:ln/>
        </p:spPr>
        <p:txBody>
          <a:bodyPr wrap="square" lIns="0" tIns="0" rIns="0" bIns="0" rtlCol="0" anchor="t"/>
          <a:lstStyle/>
          <a:p>
            <a:pPr indent="0" marL="0">
              <a:buNone/>
            </a:pPr>
            <a:r>
              <a:rPr lang="en-US" sz="1600" b="1" dirty="0">
                <a:solidFill>
                  <a:schemeClr val="accent3"/>
                </a:solidFill>
                <a:latin typeface="Malgun Gothic" pitchFamily="34" charset="0"/>
                <a:ea typeface="Malgun Gothic" pitchFamily="34" charset="-122"/>
                <a:cs typeface="Malgun Gothic" pitchFamily="34" charset="-120"/>
              </a:rPr>
              <a:t>「성스러운 운전사」</a:t>
            </a:r>
            <a:endParaRPr lang="en-US" sz="1600" dirty="0"/>
          </a:p>
        </p:txBody>
      </p:sp>
      <p:sp>
        <p:nvSpPr>
          <p:cNvPr id="15" name="Text 12"/>
          <p:cNvSpPr txBox="1"/>
          <p:nvPr/>
        </p:nvSpPr>
        <p:spPr>
          <a:xfrm>
            <a:off x="3474720" y="3337560"/>
            <a:ext cx="2194560" cy="914400"/>
          </a:xfrm>
          <a:prstGeom prst="rect">
            <a:avLst/>
          </a:prstGeom>
          <a:noFill/>
          <a:ln/>
        </p:spPr>
        <p:txBody>
          <a:bodyPr wrap="square" lIns="0" tIns="0" rIns="0" bIns="0" rtlCol="0" anchor="t"/>
          <a:lstStyle/>
          <a:p>
            <a:pPr indent="0" marL="0">
              <a:buNone/>
            </a:pPr>
            <a:r>
              <a:rPr lang="en-US" sz="1400" dirty="0">
                <a:solidFill>
                  <a:schemeClr val="accent6"/>
                </a:solidFill>
                <a:latin typeface="Malgun Gothic" pitchFamily="34" charset="0"/>
                <a:ea typeface="Malgun Gothic" pitchFamily="34" charset="-122"/>
                <a:cs typeface="Malgun Gothic" pitchFamily="34" charset="-120"/>
              </a:rPr>
              <a:t>센서로 수집한 정보를 컴퓨터가 판단해 제어한다</a:t>
            </a:r>
            <a:endParaRPr lang="en-US" sz="1400" dirty="0"/>
          </a:p>
        </p:txBody>
      </p:sp>
      <p:sp>
        <p:nvSpPr>
          <p:cNvPr id="16" name="card-unit3"/>
          <p:cNvSpPr/>
          <p:nvPr/>
        </p:nvSpPr>
        <p:spPr>
          <a:xfrm>
            <a:off x="6035040" y="1280160"/>
            <a:ext cx="2651760" cy="3108960"/>
          </a:xfrm>
          <a:prstGeom prst="roundRect">
            <a:avLst>
              <a:gd name="adj" fmla="val 4138"/>
            </a:avLst>
          </a:prstGeom>
          <a:solidFill>
            <a:schemeClr val="tx2"/>
          </a:solidFill>
          <a:ln w="12700">
            <a:solidFill>
              <a:schemeClr val="tx2"/>
            </a:solidFill>
            <a:prstDash val="solid"/>
          </a:ln>
        </p:spPr>
      </p:sp>
      <p:sp>
        <p:nvSpPr>
          <p:cNvPr id="17" name="Text 14"/>
          <p:cNvSpPr txBox="1"/>
          <p:nvPr/>
        </p:nvSpPr>
        <p:spPr>
          <a:xfrm>
            <a:off x="6263640" y="1463040"/>
            <a:ext cx="2194560" cy="274320"/>
          </a:xfrm>
          <a:prstGeom prst="rect">
            <a:avLst/>
          </a:prstGeom>
          <a:noFill/>
          <a:ln/>
        </p:spPr>
        <p:txBody>
          <a:bodyPr wrap="square" lIns="0" tIns="0" rIns="0" bIns="0" rtlCol="0" anchor="t"/>
          <a:lstStyle/>
          <a:p>
            <a:pPr indent="0" marL="0">
              <a:buNone/>
            </a:pPr>
            <a:r>
              <a:rPr lang="en-US" sz="1200" b="1" dirty="0">
                <a:solidFill>
                  <a:schemeClr val="accent4"/>
                </a:solidFill>
                <a:latin typeface="Malgun Gothic" pitchFamily="34" charset="0"/>
                <a:ea typeface="Malgun Gothic" pitchFamily="34" charset="-122"/>
                <a:cs typeface="Malgun Gothic" pitchFamily="34" charset="-120"/>
              </a:rPr>
              <a:t>소단원 ③</a:t>
            </a:r>
            <a:endParaRPr lang="en-US" sz="1200" dirty="0"/>
          </a:p>
        </p:txBody>
      </p:sp>
      <p:sp>
        <p:nvSpPr>
          <p:cNvPr id="18" name="Text 15"/>
          <p:cNvSpPr txBox="1"/>
          <p:nvPr/>
        </p:nvSpPr>
        <p:spPr>
          <a:xfrm>
            <a:off x="6263640" y="1783080"/>
            <a:ext cx="2194560" cy="640080"/>
          </a:xfrm>
          <a:prstGeom prst="rect">
            <a:avLst/>
          </a:prstGeom>
          <a:noFill/>
          <a:ln/>
        </p:spPr>
        <p:txBody>
          <a:bodyPr wrap="square" lIns="0" tIns="0" rIns="0" bIns="0" rtlCol="0" anchor="t"/>
          <a:lstStyle/>
          <a:p>
            <a:pPr indent="0" marL="0">
              <a:buNone/>
            </a:pPr>
            <a:r>
              <a:rPr lang="en-US" sz="1800" b="1" dirty="0">
                <a:solidFill>
                  <a:schemeClr val="bg1"/>
                </a:solidFill>
                <a:latin typeface="Malgun Gothic" pitchFamily="34" charset="0"/>
                <a:ea typeface="Malgun Gothic" pitchFamily="34" charset="-122"/>
                <a:cs typeface="Malgun Gothic" pitchFamily="34" charset="-120"/>
              </a:rPr>
              <a:t>감염병 진단과 예방</a:t>
            </a:r>
            <a:endParaRPr lang="en-US" sz="1800" dirty="0"/>
          </a:p>
        </p:txBody>
      </p:sp>
      <p:sp>
        <p:nvSpPr>
          <p:cNvPr id="19" name="arrow-down3"/>
          <p:cNvSpPr/>
          <p:nvPr/>
        </p:nvSpPr>
        <p:spPr>
          <a:xfrm>
            <a:off x="7223760" y="2468880"/>
            <a:ext cx="274320" cy="320040"/>
          </a:xfrm>
          <a:prstGeom prst="downArrow">
            <a:avLst/>
          </a:prstGeom>
          <a:solidFill>
            <a:schemeClr val="accent4"/>
          </a:solidFill>
          <a:ln w="12700">
            <a:solidFill>
              <a:schemeClr val="accent4"/>
            </a:solidFill>
            <a:prstDash val="solid"/>
          </a:ln>
        </p:spPr>
      </p:sp>
      <p:sp>
        <p:nvSpPr>
          <p:cNvPr id="20" name="Text 17"/>
          <p:cNvSpPr txBox="1"/>
          <p:nvPr/>
        </p:nvSpPr>
        <p:spPr>
          <a:xfrm>
            <a:off x="6263640" y="2880360"/>
            <a:ext cx="2194560" cy="365760"/>
          </a:xfrm>
          <a:prstGeom prst="rect">
            <a:avLst/>
          </a:prstGeom>
          <a:noFill/>
          <a:ln/>
        </p:spPr>
        <p:txBody>
          <a:bodyPr wrap="square" lIns="0" tIns="0" rIns="0" bIns="0" rtlCol="0" anchor="t"/>
          <a:lstStyle/>
          <a:p>
            <a:pPr indent="0" marL="0">
              <a:buNone/>
            </a:pPr>
            <a:r>
              <a:rPr lang="en-US" sz="1600" b="1" dirty="0">
                <a:solidFill>
                  <a:schemeClr val="accent4"/>
                </a:solidFill>
                <a:latin typeface="Malgun Gothic" pitchFamily="34" charset="0"/>
                <a:ea typeface="Malgun Gothic" pitchFamily="34" charset="-122"/>
                <a:cs typeface="Malgun Gothic" pitchFamily="34" charset="-120"/>
              </a:rPr>
              <a:t>「무접촉 사랑」</a:t>
            </a:r>
            <a:endParaRPr lang="en-US" sz="1600" dirty="0"/>
          </a:p>
        </p:txBody>
      </p:sp>
      <p:sp>
        <p:nvSpPr>
          <p:cNvPr id="21" name="Text 18"/>
          <p:cNvSpPr txBox="1"/>
          <p:nvPr/>
        </p:nvSpPr>
        <p:spPr>
          <a:xfrm>
            <a:off x="6263640" y="3337560"/>
            <a:ext cx="2194560" cy="914400"/>
          </a:xfrm>
          <a:prstGeom prst="rect">
            <a:avLst/>
          </a:prstGeom>
          <a:noFill/>
          <a:ln/>
        </p:spPr>
        <p:txBody>
          <a:bodyPr wrap="square" lIns="0" tIns="0" rIns="0" bIns="0" rtlCol="0" anchor="t"/>
          <a:lstStyle/>
          <a:p>
            <a:pPr indent="0" marL="0">
              <a:buNone/>
            </a:pPr>
            <a:r>
              <a:rPr lang="en-US" sz="1400" dirty="0">
                <a:solidFill>
                  <a:schemeClr val="accent6"/>
                </a:solidFill>
                <a:latin typeface="Malgun Gothic" pitchFamily="34" charset="0"/>
                <a:ea typeface="Malgun Gothic" pitchFamily="34" charset="-122"/>
                <a:cs typeface="Malgun Gothic" pitchFamily="34" charset="-120"/>
              </a:rPr>
              <a:t>검사 원리와 데이터 분석으로 진단·예방한다</a:t>
            </a:r>
            <a:endParaRPr lang="en-US" sz="14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2800" b="1" dirty="0">
                <a:solidFill>
                  <a:schemeClr val="bg1"/>
                </a:solidFill>
              </a:rPr>
              <a:t>세 기술의 공통 원리: 입력 → 처리 → 출력</a:t>
            </a:r>
            <a:endParaRPr lang="en-US" sz="2800" dirty="0"/>
          </a:p>
        </p:txBody>
      </p:sp>
      <p:sp>
        <p:nvSpPr>
          <p:cNvPr id="4" name="card-step1"/>
          <p:cNvSpPr/>
          <p:nvPr/>
        </p:nvSpPr>
        <p:spPr>
          <a:xfrm>
            <a:off x="457200" y="1280160"/>
            <a:ext cx="2194560" cy="1188720"/>
          </a:xfrm>
          <a:prstGeom prst="roundRect">
            <a:avLst>
              <a:gd name="adj" fmla="val 9231"/>
            </a:avLst>
          </a:prstGeom>
          <a:solidFill>
            <a:schemeClr val="tx2"/>
          </a:solidFill>
          <a:ln w="12700">
            <a:solidFill>
              <a:schemeClr val="tx2"/>
            </a:solidFill>
            <a:prstDash val="solid"/>
          </a:ln>
        </p:spPr>
      </p:sp>
      <p:sp>
        <p:nvSpPr>
          <p:cNvPr id="5" name="Text 2"/>
          <p:cNvSpPr txBox="1"/>
          <p:nvPr/>
        </p:nvSpPr>
        <p:spPr>
          <a:xfrm>
            <a:off x="457200" y="1417320"/>
            <a:ext cx="2194560" cy="502920"/>
          </a:xfrm>
          <a:prstGeom prst="rect">
            <a:avLst/>
          </a:prstGeom>
          <a:noFill/>
          <a:ln/>
        </p:spPr>
        <p:txBody>
          <a:bodyPr wrap="square" lIns="0" tIns="0" rIns="0" bIns="0" rtlCol="0" anchor="t"/>
          <a:lstStyle/>
          <a:p>
            <a:pPr algn="ctr" indent="0" marL="0">
              <a:buNone/>
            </a:pPr>
            <a:r>
              <a:rPr lang="en-US" sz="2800" b="1" dirty="0">
                <a:solidFill>
                  <a:schemeClr val="accent1"/>
                </a:solidFill>
                <a:latin typeface="Malgun Gothic" pitchFamily="34" charset="0"/>
                <a:ea typeface="Malgun Gothic" pitchFamily="34" charset="-122"/>
                <a:cs typeface="Malgun Gothic" pitchFamily="34" charset="-120"/>
              </a:rPr>
              <a:t>입력</a:t>
            </a:r>
            <a:endParaRPr lang="en-US" sz="2800" dirty="0"/>
          </a:p>
        </p:txBody>
      </p:sp>
      <p:sp>
        <p:nvSpPr>
          <p:cNvPr id="6" name="Text 3"/>
          <p:cNvSpPr txBox="1"/>
          <p:nvPr/>
        </p:nvSpPr>
        <p:spPr>
          <a:xfrm>
            <a:off x="457200" y="1965960"/>
            <a:ext cx="2194560" cy="365760"/>
          </a:xfrm>
          <a:prstGeom prst="rect">
            <a:avLst/>
          </a:prstGeom>
          <a:noFill/>
          <a:ln/>
        </p:spPr>
        <p:txBody>
          <a:bodyPr wrap="square" lIns="0" tIns="0" rIns="0" bIns="0" rtlCol="0" anchor="t"/>
          <a:lstStyle/>
          <a:p>
            <a:pPr algn="ctr" indent="0" marL="0">
              <a:buNone/>
            </a:pPr>
            <a:r>
              <a:rPr lang="en-US" sz="1400" dirty="0">
                <a:solidFill>
                  <a:schemeClr val="accent6"/>
                </a:solidFill>
                <a:latin typeface="Malgun Gothic" pitchFamily="34" charset="0"/>
                <a:ea typeface="Malgun Gothic" pitchFamily="34" charset="-122"/>
                <a:cs typeface="Malgun Gothic" pitchFamily="34" charset="-120"/>
              </a:rPr>
              <a:t>데이터·센서 신호</a:t>
            </a:r>
            <a:endParaRPr lang="en-US" sz="1400" dirty="0"/>
          </a:p>
        </p:txBody>
      </p:sp>
      <p:sp>
        <p:nvSpPr>
          <p:cNvPr id="7" name="arrow"/>
          <p:cNvSpPr/>
          <p:nvPr/>
        </p:nvSpPr>
        <p:spPr>
          <a:xfrm>
            <a:off x="2743200" y="1737360"/>
            <a:ext cx="640080" cy="274320"/>
          </a:xfrm>
          <a:prstGeom prst="rightArrow">
            <a:avLst/>
          </a:prstGeom>
          <a:solidFill>
            <a:schemeClr val="accent2"/>
          </a:solidFill>
          <a:ln w="12700">
            <a:solidFill>
              <a:schemeClr val="accent2"/>
            </a:solidFill>
            <a:prstDash val="solid"/>
          </a:ln>
        </p:spPr>
      </p:sp>
      <p:sp>
        <p:nvSpPr>
          <p:cNvPr id="8" name="Text 5"/>
          <p:cNvSpPr txBox="1"/>
          <p:nvPr/>
        </p:nvSpPr>
        <p:spPr>
          <a:xfrm>
            <a:off x="594360" y="2834640"/>
            <a:ext cx="2103120" cy="12801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latin typeface="Malgun Gothic" pitchFamily="34" charset="0"/>
                <a:ea typeface="Malgun Gothic" pitchFamily="34" charset="-122"/>
                <a:cs typeface="Malgun Gothic" pitchFamily="34" charset="-120"/>
              </a:rPr>
              <a:t>학습 데이터</a:t>
            </a:r>
            <a:endParaRPr lang="en-US" sz="1400" dirty="0"/>
          </a:p>
          <a:p>
            <a:pPr marL="342900" indent="-342900">
              <a:spcAft>
                <a:spcPts val="600"/>
              </a:spcAft>
              <a:buSzPct val="100000"/>
              <a:buChar char="•"/>
            </a:pPr>
            <a:r>
              <a:rPr lang="en-US" sz="1400" dirty="0">
                <a:solidFill>
                  <a:schemeClr val="bg1"/>
                </a:solidFill>
                <a:latin typeface="Malgun Gothic" pitchFamily="34" charset="0"/>
                <a:ea typeface="Malgun Gothic" pitchFamily="34" charset="-122"/>
                <a:cs typeface="Malgun Gothic" pitchFamily="34" charset="-120"/>
              </a:rPr>
              <a:t>카메라·레이더·라이다</a:t>
            </a:r>
            <a:endParaRPr lang="en-US" sz="1400" dirty="0"/>
          </a:p>
          <a:p>
            <a:pPr marL="342900" indent="-342900">
              <a:spcAft>
                <a:spcPts val="600"/>
              </a:spcAft>
              <a:buSzPct val="100000"/>
              <a:buChar char="•"/>
            </a:pPr>
            <a:r>
              <a:rPr lang="en-US" sz="1400" dirty="0">
                <a:solidFill>
                  <a:schemeClr val="bg1"/>
                </a:solidFill>
                <a:latin typeface="Malgun Gothic" pitchFamily="34" charset="0"/>
                <a:ea typeface="Malgun Gothic" pitchFamily="34" charset="-122"/>
                <a:cs typeface="Malgun Gothic" pitchFamily="34" charset="-120"/>
              </a:rPr>
              <a:t>검체·이동 데이터</a:t>
            </a:r>
            <a:endParaRPr lang="en-US" sz="1400" dirty="0"/>
          </a:p>
        </p:txBody>
      </p:sp>
      <p:sp>
        <p:nvSpPr>
          <p:cNvPr id="9" name="card-step2"/>
          <p:cNvSpPr/>
          <p:nvPr/>
        </p:nvSpPr>
        <p:spPr>
          <a:xfrm>
            <a:off x="3474720" y="1280160"/>
            <a:ext cx="2194560" cy="1188720"/>
          </a:xfrm>
          <a:prstGeom prst="roundRect">
            <a:avLst>
              <a:gd name="adj" fmla="val 9231"/>
            </a:avLst>
          </a:prstGeom>
          <a:solidFill>
            <a:schemeClr val="tx2"/>
          </a:solidFill>
          <a:ln w="12700">
            <a:solidFill>
              <a:schemeClr val="tx2"/>
            </a:solidFill>
            <a:prstDash val="solid"/>
          </a:ln>
        </p:spPr>
      </p:sp>
      <p:sp>
        <p:nvSpPr>
          <p:cNvPr id="10" name="Text 7"/>
          <p:cNvSpPr txBox="1"/>
          <p:nvPr/>
        </p:nvSpPr>
        <p:spPr>
          <a:xfrm>
            <a:off x="3474720" y="1417320"/>
            <a:ext cx="2194560" cy="502920"/>
          </a:xfrm>
          <a:prstGeom prst="rect">
            <a:avLst/>
          </a:prstGeom>
          <a:noFill/>
          <a:ln/>
        </p:spPr>
        <p:txBody>
          <a:bodyPr wrap="square" lIns="0" tIns="0" rIns="0" bIns="0" rtlCol="0" anchor="t"/>
          <a:lstStyle/>
          <a:p>
            <a:pPr algn="ctr" indent="0" marL="0">
              <a:buNone/>
            </a:pPr>
            <a:r>
              <a:rPr lang="en-US" sz="2800" b="1" dirty="0">
                <a:solidFill>
                  <a:schemeClr val="accent3"/>
                </a:solidFill>
                <a:latin typeface="Malgun Gothic" pitchFamily="34" charset="0"/>
                <a:ea typeface="Malgun Gothic" pitchFamily="34" charset="-122"/>
                <a:cs typeface="Malgun Gothic" pitchFamily="34" charset="-120"/>
              </a:rPr>
              <a:t>처리</a:t>
            </a:r>
            <a:endParaRPr lang="en-US" sz="2800" dirty="0"/>
          </a:p>
        </p:txBody>
      </p:sp>
      <p:sp>
        <p:nvSpPr>
          <p:cNvPr id="11" name="Text 8"/>
          <p:cNvSpPr txBox="1"/>
          <p:nvPr/>
        </p:nvSpPr>
        <p:spPr>
          <a:xfrm>
            <a:off x="3474720" y="1965960"/>
            <a:ext cx="2194560" cy="365760"/>
          </a:xfrm>
          <a:prstGeom prst="rect">
            <a:avLst/>
          </a:prstGeom>
          <a:noFill/>
          <a:ln/>
        </p:spPr>
        <p:txBody>
          <a:bodyPr wrap="square" lIns="0" tIns="0" rIns="0" bIns="0" rtlCol="0" anchor="t"/>
          <a:lstStyle/>
          <a:p>
            <a:pPr algn="ctr" indent="0" marL="0">
              <a:buNone/>
            </a:pPr>
            <a:r>
              <a:rPr lang="en-US" sz="1400" dirty="0">
                <a:solidFill>
                  <a:schemeClr val="accent6"/>
                </a:solidFill>
                <a:latin typeface="Malgun Gothic" pitchFamily="34" charset="0"/>
                <a:ea typeface="Malgun Gothic" pitchFamily="34" charset="-122"/>
                <a:cs typeface="Malgun Gothic" pitchFamily="34" charset="-120"/>
              </a:rPr>
              <a:t>알고리즘이 계산</a:t>
            </a:r>
            <a:endParaRPr lang="en-US" sz="1400" dirty="0"/>
          </a:p>
        </p:txBody>
      </p:sp>
      <p:sp>
        <p:nvSpPr>
          <p:cNvPr id="12" name="arrow"/>
          <p:cNvSpPr/>
          <p:nvPr/>
        </p:nvSpPr>
        <p:spPr>
          <a:xfrm>
            <a:off x="5760720" y="1737360"/>
            <a:ext cx="640080" cy="274320"/>
          </a:xfrm>
          <a:prstGeom prst="rightArrow">
            <a:avLst/>
          </a:prstGeom>
          <a:solidFill>
            <a:schemeClr val="accent2"/>
          </a:solidFill>
          <a:ln w="12700">
            <a:solidFill>
              <a:schemeClr val="accent2"/>
            </a:solidFill>
            <a:prstDash val="solid"/>
          </a:ln>
        </p:spPr>
      </p:sp>
      <p:sp>
        <p:nvSpPr>
          <p:cNvPr id="13" name="Text 10"/>
          <p:cNvSpPr txBox="1"/>
          <p:nvPr/>
        </p:nvSpPr>
        <p:spPr>
          <a:xfrm>
            <a:off x="3611880" y="2834640"/>
            <a:ext cx="2103120" cy="12801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latin typeface="Malgun Gothic" pitchFamily="34" charset="0"/>
                <a:ea typeface="Malgun Gothic" pitchFamily="34" charset="-122"/>
                <a:cs typeface="Malgun Gothic" pitchFamily="34" charset="-120"/>
              </a:rPr>
              <a:t>신경망 학습</a:t>
            </a:r>
            <a:endParaRPr lang="en-US" sz="1400" dirty="0"/>
          </a:p>
          <a:p>
            <a:pPr marL="342900" indent="-342900">
              <a:spcAft>
                <a:spcPts val="600"/>
              </a:spcAft>
              <a:buSzPct val="100000"/>
              <a:buChar char="•"/>
            </a:pPr>
            <a:r>
              <a:rPr lang="en-US" sz="1400" dirty="0">
                <a:solidFill>
                  <a:schemeClr val="bg1"/>
                </a:solidFill>
                <a:latin typeface="Malgun Gothic" pitchFamily="34" charset="0"/>
                <a:ea typeface="Malgun Gothic" pitchFamily="34" charset="-122"/>
                <a:cs typeface="Malgun Gothic" pitchFamily="34" charset="-120"/>
              </a:rPr>
              <a:t>인식·판단 알고리즘</a:t>
            </a:r>
            <a:endParaRPr lang="en-US" sz="1400" dirty="0"/>
          </a:p>
          <a:p>
            <a:pPr marL="342900" indent="-342900">
              <a:spcAft>
                <a:spcPts val="600"/>
              </a:spcAft>
              <a:buSzPct val="100000"/>
              <a:buChar char="•"/>
            </a:pPr>
            <a:r>
              <a:rPr lang="en-US" sz="1400" dirty="0">
                <a:solidFill>
                  <a:schemeClr val="bg1"/>
                </a:solidFill>
                <a:latin typeface="Malgun Gothic" pitchFamily="34" charset="0"/>
                <a:ea typeface="Malgun Gothic" pitchFamily="34" charset="-122"/>
                <a:cs typeface="Malgun Gothic" pitchFamily="34" charset="-120"/>
              </a:rPr>
              <a:t>검사·예측 모델</a:t>
            </a:r>
            <a:endParaRPr lang="en-US" sz="1400" dirty="0"/>
          </a:p>
        </p:txBody>
      </p:sp>
      <p:sp>
        <p:nvSpPr>
          <p:cNvPr id="14" name="card-step3"/>
          <p:cNvSpPr/>
          <p:nvPr/>
        </p:nvSpPr>
        <p:spPr>
          <a:xfrm>
            <a:off x="6492240" y="1280160"/>
            <a:ext cx="2194560" cy="1188720"/>
          </a:xfrm>
          <a:prstGeom prst="roundRect">
            <a:avLst>
              <a:gd name="adj" fmla="val 9231"/>
            </a:avLst>
          </a:prstGeom>
          <a:solidFill>
            <a:schemeClr val="tx2"/>
          </a:solidFill>
          <a:ln w="12700">
            <a:solidFill>
              <a:schemeClr val="tx2"/>
            </a:solidFill>
            <a:prstDash val="solid"/>
          </a:ln>
        </p:spPr>
      </p:sp>
      <p:sp>
        <p:nvSpPr>
          <p:cNvPr id="15" name="Text 12"/>
          <p:cNvSpPr txBox="1"/>
          <p:nvPr/>
        </p:nvSpPr>
        <p:spPr>
          <a:xfrm>
            <a:off x="6492240" y="1417320"/>
            <a:ext cx="2194560" cy="502920"/>
          </a:xfrm>
          <a:prstGeom prst="rect">
            <a:avLst/>
          </a:prstGeom>
          <a:noFill/>
          <a:ln/>
        </p:spPr>
        <p:txBody>
          <a:bodyPr wrap="square" lIns="0" tIns="0" rIns="0" bIns="0" rtlCol="0" anchor="t"/>
          <a:lstStyle/>
          <a:p>
            <a:pPr algn="ctr" indent="0" marL="0">
              <a:buNone/>
            </a:pPr>
            <a:r>
              <a:rPr lang="en-US" sz="2800" b="1" dirty="0">
                <a:solidFill>
                  <a:schemeClr val="accent4"/>
                </a:solidFill>
                <a:latin typeface="Malgun Gothic" pitchFamily="34" charset="0"/>
                <a:ea typeface="Malgun Gothic" pitchFamily="34" charset="-122"/>
                <a:cs typeface="Malgun Gothic" pitchFamily="34" charset="-120"/>
              </a:rPr>
              <a:t>출력</a:t>
            </a:r>
            <a:endParaRPr lang="en-US" sz="2800" dirty="0"/>
          </a:p>
        </p:txBody>
      </p:sp>
      <p:sp>
        <p:nvSpPr>
          <p:cNvPr id="16" name="Text 13"/>
          <p:cNvSpPr txBox="1"/>
          <p:nvPr/>
        </p:nvSpPr>
        <p:spPr>
          <a:xfrm>
            <a:off x="6492240" y="1965960"/>
            <a:ext cx="2194560" cy="365760"/>
          </a:xfrm>
          <a:prstGeom prst="rect">
            <a:avLst/>
          </a:prstGeom>
          <a:noFill/>
          <a:ln/>
        </p:spPr>
        <p:txBody>
          <a:bodyPr wrap="square" lIns="0" tIns="0" rIns="0" bIns="0" rtlCol="0" anchor="t"/>
          <a:lstStyle/>
          <a:p>
            <a:pPr algn="ctr" indent="0" marL="0">
              <a:buNone/>
            </a:pPr>
            <a:r>
              <a:rPr lang="en-US" sz="1400" dirty="0">
                <a:solidFill>
                  <a:schemeClr val="accent6"/>
                </a:solidFill>
                <a:latin typeface="Malgun Gothic" pitchFamily="34" charset="0"/>
                <a:ea typeface="Malgun Gothic" pitchFamily="34" charset="-122"/>
                <a:cs typeface="Malgun Gothic" pitchFamily="34" charset="-120"/>
              </a:rPr>
              <a:t>판단·제어·결정</a:t>
            </a:r>
            <a:endParaRPr lang="en-US" sz="1400" dirty="0"/>
          </a:p>
        </p:txBody>
      </p:sp>
      <p:sp>
        <p:nvSpPr>
          <p:cNvPr id="17" name="Text 14"/>
          <p:cNvSpPr txBox="1"/>
          <p:nvPr/>
        </p:nvSpPr>
        <p:spPr>
          <a:xfrm>
            <a:off x="6629400" y="2834640"/>
            <a:ext cx="2103120" cy="12801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latin typeface="Malgun Gothic" pitchFamily="34" charset="0"/>
                <a:ea typeface="Malgun Gothic" pitchFamily="34" charset="-122"/>
                <a:cs typeface="Malgun Gothic" pitchFamily="34" charset="-120"/>
              </a:rPr>
              <a:t>예측·판단</a:t>
            </a:r>
            <a:endParaRPr lang="en-US" sz="1400" dirty="0"/>
          </a:p>
          <a:p>
            <a:pPr marL="342900" indent="-342900">
              <a:spcAft>
                <a:spcPts val="600"/>
              </a:spcAft>
              <a:buSzPct val="100000"/>
              <a:buChar char="•"/>
            </a:pPr>
            <a:r>
              <a:rPr lang="en-US" sz="1400" dirty="0">
                <a:solidFill>
                  <a:schemeClr val="bg1"/>
                </a:solidFill>
                <a:latin typeface="Malgun Gothic" pitchFamily="34" charset="0"/>
                <a:ea typeface="Malgun Gothic" pitchFamily="34" charset="-122"/>
                <a:cs typeface="Malgun Gothic" pitchFamily="34" charset="-120"/>
              </a:rPr>
              <a:t>가속·제동·조향</a:t>
            </a:r>
            <a:endParaRPr lang="en-US" sz="1400" dirty="0"/>
          </a:p>
          <a:p>
            <a:pPr marL="342900" indent="-342900">
              <a:spcAft>
                <a:spcPts val="600"/>
              </a:spcAft>
              <a:buSzPct val="100000"/>
              <a:buChar char="•"/>
            </a:pPr>
            <a:r>
              <a:rPr lang="en-US" sz="1400" dirty="0">
                <a:solidFill>
                  <a:schemeClr val="bg1"/>
                </a:solidFill>
                <a:latin typeface="Malgun Gothic" pitchFamily="34" charset="0"/>
                <a:ea typeface="Malgun Gothic" pitchFamily="34" charset="-122"/>
                <a:cs typeface="Malgun Gothic" pitchFamily="34" charset="-120"/>
              </a:rPr>
              <a:t>진단·방역 결정</a:t>
            </a:r>
            <a:endParaRPr lang="en-US" sz="1400" dirty="0"/>
          </a:p>
        </p:txBody>
      </p:sp>
      <p:sp>
        <p:nvSpPr>
          <p:cNvPr id="18" name="Text 15"/>
          <p:cNvSpPr txBox="1"/>
          <p:nvPr/>
        </p:nvSpPr>
        <p:spPr>
          <a:xfrm>
            <a:off x="457200" y="4251960"/>
            <a:ext cx="8229600" cy="274320"/>
          </a:xfrm>
          <a:prstGeom prst="rect">
            <a:avLst/>
          </a:prstGeom>
          <a:noFill/>
          <a:ln/>
        </p:spPr>
        <p:txBody>
          <a:bodyPr wrap="square" lIns="0" tIns="0" rIns="0" bIns="0" rtlCol="0" anchor="t"/>
          <a:lstStyle/>
          <a:p>
            <a:pPr indent="0" marL="0">
              <a:buNone/>
            </a:pPr>
            <a:r>
              <a:rPr lang="en-US" sz="1200" dirty="0">
                <a:solidFill>
                  <a:schemeClr val="accent6"/>
                </a:solidFill>
                <a:latin typeface="Malgun Gothic" pitchFamily="34" charset="0"/>
                <a:ea typeface="Malgun Gothic" pitchFamily="34" charset="-122"/>
                <a:cs typeface="Malgun Gothic" pitchFamily="34" charset="-120"/>
              </a:rPr>
              <a:t>위에서부터 ① 인공지능  ② 자율주행  ③ 감염병 진단 순서</a:t>
            </a:r>
            <a:endParaRPr lang="en-US" sz="12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2800" b="1" dirty="0">
                <a:solidFill>
                  <a:schemeClr val="bg1"/>
                </a:solidFill>
              </a:rPr>
              <a:t>원리 ① 딥러닝은 오차를 줄이며 학습한다</a:t>
            </a:r>
            <a:endParaRPr lang="en-US" sz="2800" dirty="0"/>
          </a:p>
        </p:txBody>
      </p:sp>
      <p:sp>
        <p:nvSpPr>
          <p:cNvPr id="4" name="Text 1"/>
          <p:cNvSpPr txBox="1"/>
          <p:nvPr/>
        </p:nvSpPr>
        <p:spPr>
          <a:xfrm>
            <a:off x="457200" y="1097280"/>
            <a:ext cx="4572000" cy="274320"/>
          </a:xfrm>
          <a:prstGeom prst="rect">
            <a:avLst/>
          </a:prstGeom>
          <a:noFill/>
          <a:ln/>
        </p:spPr>
        <p:txBody>
          <a:bodyPr wrap="square" lIns="0" tIns="0" rIns="0" bIns="0" rtlCol="0" anchor="t"/>
          <a:lstStyle/>
          <a:p>
            <a:pPr indent="0" marL="0">
              <a:buNone/>
            </a:pPr>
            <a:r>
              <a:rPr lang="en-US" sz="1200" b="1" dirty="0">
                <a:solidFill>
                  <a:schemeClr val="accent1"/>
                </a:solidFill>
                <a:latin typeface="Malgun Gothic" pitchFamily="34" charset="0"/>
                <a:ea typeface="Malgun Gothic" pitchFamily="34" charset="-122"/>
                <a:cs typeface="Malgun Gothic" pitchFamily="34" charset="-120"/>
              </a:rPr>
              <a:t>교과서 개념: 인공지능, 빅데이터</a:t>
            </a:r>
            <a:endParaRPr lang="en-US" sz="1200" dirty="0"/>
          </a:p>
        </p:txBody>
      </p:sp>
      <p:sp>
        <p:nvSpPr>
          <p:cNvPr id="5" name="edge"/>
          <p:cNvSpPr/>
          <p:nvPr/>
        </p:nvSpPr>
        <p:spPr>
          <a:xfrm flipV="1">
            <a:off x="822960" y="1748790"/>
            <a:ext cx="1463040" cy="80010"/>
          </a:xfrm>
          <a:prstGeom prst="line">
            <a:avLst/>
          </a:prstGeom>
          <a:noFill/>
          <a:ln w="9525">
            <a:solidFill>
              <a:schemeClr val="accent6"/>
            </a:solidFill>
            <a:prstDash val="solid"/>
          </a:ln>
        </p:spPr>
      </p:sp>
      <p:sp>
        <p:nvSpPr>
          <p:cNvPr id="6" name="edge"/>
          <p:cNvSpPr/>
          <p:nvPr/>
        </p:nvSpPr>
        <p:spPr>
          <a:xfrm>
            <a:off x="822960" y="1828800"/>
            <a:ext cx="1463040" cy="400050"/>
          </a:xfrm>
          <a:prstGeom prst="line">
            <a:avLst/>
          </a:prstGeom>
          <a:noFill/>
          <a:ln w="9525">
            <a:solidFill>
              <a:schemeClr val="accent6"/>
            </a:solidFill>
            <a:prstDash val="solid"/>
          </a:ln>
        </p:spPr>
      </p:sp>
      <p:sp>
        <p:nvSpPr>
          <p:cNvPr id="7" name="edge"/>
          <p:cNvSpPr/>
          <p:nvPr/>
        </p:nvSpPr>
        <p:spPr>
          <a:xfrm>
            <a:off x="822960" y="1828800"/>
            <a:ext cx="1463040" cy="880110"/>
          </a:xfrm>
          <a:prstGeom prst="line">
            <a:avLst/>
          </a:prstGeom>
          <a:noFill/>
          <a:ln w="9525">
            <a:solidFill>
              <a:schemeClr val="accent6"/>
            </a:solidFill>
            <a:prstDash val="solid"/>
          </a:ln>
        </p:spPr>
      </p:sp>
      <p:sp>
        <p:nvSpPr>
          <p:cNvPr id="8" name="edge"/>
          <p:cNvSpPr/>
          <p:nvPr/>
        </p:nvSpPr>
        <p:spPr>
          <a:xfrm>
            <a:off x="822960" y="1828800"/>
            <a:ext cx="1463040" cy="1360170"/>
          </a:xfrm>
          <a:prstGeom prst="line">
            <a:avLst/>
          </a:prstGeom>
          <a:noFill/>
          <a:ln w="9525">
            <a:solidFill>
              <a:schemeClr val="accent6"/>
            </a:solidFill>
            <a:prstDash val="solid"/>
          </a:ln>
        </p:spPr>
      </p:sp>
      <p:sp>
        <p:nvSpPr>
          <p:cNvPr id="9" name="edge"/>
          <p:cNvSpPr/>
          <p:nvPr/>
        </p:nvSpPr>
        <p:spPr>
          <a:xfrm flipV="1">
            <a:off x="822960" y="1748790"/>
            <a:ext cx="1463040" cy="720090"/>
          </a:xfrm>
          <a:prstGeom prst="line">
            <a:avLst/>
          </a:prstGeom>
          <a:noFill/>
          <a:ln w="9525">
            <a:solidFill>
              <a:schemeClr val="accent6"/>
            </a:solidFill>
            <a:prstDash val="solid"/>
          </a:ln>
        </p:spPr>
      </p:sp>
      <p:sp>
        <p:nvSpPr>
          <p:cNvPr id="10" name="edge"/>
          <p:cNvSpPr/>
          <p:nvPr/>
        </p:nvSpPr>
        <p:spPr>
          <a:xfrm flipV="1">
            <a:off x="822960" y="2228850"/>
            <a:ext cx="1463040" cy="240030"/>
          </a:xfrm>
          <a:prstGeom prst="line">
            <a:avLst/>
          </a:prstGeom>
          <a:noFill/>
          <a:ln w="9525">
            <a:solidFill>
              <a:schemeClr val="accent6"/>
            </a:solidFill>
            <a:prstDash val="solid"/>
          </a:ln>
        </p:spPr>
      </p:sp>
      <p:sp>
        <p:nvSpPr>
          <p:cNvPr id="11" name="edge"/>
          <p:cNvSpPr/>
          <p:nvPr/>
        </p:nvSpPr>
        <p:spPr>
          <a:xfrm>
            <a:off x="822960" y="2468880"/>
            <a:ext cx="1463040" cy="240030"/>
          </a:xfrm>
          <a:prstGeom prst="line">
            <a:avLst/>
          </a:prstGeom>
          <a:noFill/>
          <a:ln w="9525">
            <a:solidFill>
              <a:schemeClr val="accent6"/>
            </a:solidFill>
            <a:prstDash val="solid"/>
          </a:ln>
        </p:spPr>
      </p:sp>
      <p:sp>
        <p:nvSpPr>
          <p:cNvPr id="12" name="edge"/>
          <p:cNvSpPr/>
          <p:nvPr/>
        </p:nvSpPr>
        <p:spPr>
          <a:xfrm>
            <a:off x="822960" y="2468880"/>
            <a:ext cx="1463040" cy="720090"/>
          </a:xfrm>
          <a:prstGeom prst="line">
            <a:avLst/>
          </a:prstGeom>
          <a:noFill/>
          <a:ln w="9525">
            <a:solidFill>
              <a:schemeClr val="accent6"/>
            </a:solidFill>
            <a:prstDash val="solid"/>
          </a:ln>
        </p:spPr>
      </p:sp>
      <p:sp>
        <p:nvSpPr>
          <p:cNvPr id="13" name="edge"/>
          <p:cNvSpPr/>
          <p:nvPr/>
        </p:nvSpPr>
        <p:spPr>
          <a:xfrm flipV="1">
            <a:off x="822960" y="1748790"/>
            <a:ext cx="1463040" cy="1360170"/>
          </a:xfrm>
          <a:prstGeom prst="line">
            <a:avLst/>
          </a:prstGeom>
          <a:noFill/>
          <a:ln w="9525">
            <a:solidFill>
              <a:schemeClr val="accent6"/>
            </a:solidFill>
            <a:prstDash val="solid"/>
          </a:ln>
        </p:spPr>
      </p:sp>
      <p:sp>
        <p:nvSpPr>
          <p:cNvPr id="14" name="edge"/>
          <p:cNvSpPr/>
          <p:nvPr/>
        </p:nvSpPr>
        <p:spPr>
          <a:xfrm flipV="1">
            <a:off x="822960" y="2228850"/>
            <a:ext cx="1463040" cy="880110"/>
          </a:xfrm>
          <a:prstGeom prst="line">
            <a:avLst/>
          </a:prstGeom>
          <a:noFill/>
          <a:ln w="9525">
            <a:solidFill>
              <a:schemeClr val="accent6"/>
            </a:solidFill>
            <a:prstDash val="solid"/>
          </a:ln>
        </p:spPr>
      </p:sp>
      <p:sp>
        <p:nvSpPr>
          <p:cNvPr id="15" name="edge"/>
          <p:cNvSpPr/>
          <p:nvPr/>
        </p:nvSpPr>
        <p:spPr>
          <a:xfrm flipV="1">
            <a:off x="822960" y="2708910"/>
            <a:ext cx="1463040" cy="400050"/>
          </a:xfrm>
          <a:prstGeom prst="line">
            <a:avLst/>
          </a:prstGeom>
          <a:noFill/>
          <a:ln w="9525">
            <a:solidFill>
              <a:schemeClr val="accent6"/>
            </a:solidFill>
            <a:prstDash val="solid"/>
          </a:ln>
        </p:spPr>
      </p:sp>
      <p:sp>
        <p:nvSpPr>
          <p:cNvPr id="16" name="edge"/>
          <p:cNvSpPr/>
          <p:nvPr/>
        </p:nvSpPr>
        <p:spPr>
          <a:xfrm>
            <a:off x="822960" y="3108960"/>
            <a:ext cx="1463040" cy="80010"/>
          </a:xfrm>
          <a:prstGeom prst="line">
            <a:avLst/>
          </a:prstGeom>
          <a:noFill/>
          <a:ln w="9525">
            <a:solidFill>
              <a:schemeClr val="accent6"/>
            </a:solidFill>
            <a:prstDash val="solid"/>
          </a:ln>
        </p:spPr>
      </p:sp>
      <p:sp>
        <p:nvSpPr>
          <p:cNvPr id="17" name="edge"/>
          <p:cNvSpPr/>
          <p:nvPr/>
        </p:nvSpPr>
        <p:spPr>
          <a:xfrm>
            <a:off x="2286000" y="1748790"/>
            <a:ext cx="1463040" cy="240030"/>
          </a:xfrm>
          <a:prstGeom prst="line">
            <a:avLst/>
          </a:prstGeom>
          <a:noFill/>
          <a:ln w="9525">
            <a:solidFill>
              <a:schemeClr val="accent6"/>
            </a:solidFill>
            <a:prstDash val="solid"/>
          </a:ln>
        </p:spPr>
      </p:sp>
      <p:sp>
        <p:nvSpPr>
          <p:cNvPr id="18" name="edge"/>
          <p:cNvSpPr/>
          <p:nvPr/>
        </p:nvSpPr>
        <p:spPr>
          <a:xfrm>
            <a:off x="2286000" y="1748790"/>
            <a:ext cx="1463040" cy="1200150"/>
          </a:xfrm>
          <a:prstGeom prst="line">
            <a:avLst/>
          </a:prstGeom>
          <a:noFill/>
          <a:ln w="9525">
            <a:solidFill>
              <a:schemeClr val="accent6"/>
            </a:solidFill>
            <a:prstDash val="solid"/>
          </a:ln>
        </p:spPr>
      </p:sp>
      <p:sp>
        <p:nvSpPr>
          <p:cNvPr id="19" name="edge"/>
          <p:cNvSpPr/>
          <p:nvPr/>
        </p:nvSpPr>
        <p:spPr>
          <a:xfrm flipV="1">
            <a:off x="2286000" y="1988820"/>
            <a:ext cx="1463040" cy="240030"/>
          </a:xfrm>
          <a:prstGeom prst="line">
            <a:avLst/>
          </a:prstGeom>
          <a:noFill/>
          <a:ln w="9525">
            <a:solidFill>
              <a:schemeClr val="accent6"/>
            </a:solidFill>
            <a:prstDash val="solid"/>
          </a:ln>
        </p:spPr>
      </p:sp>
      <p:sp>
        <p:nvSpPr>
          <p:cNvPr id="20" name="edge"/>
          <p:cNvSpPr/>
          <p:nvPr/>
        </p:nvSpPr>
        <p:spPr>
          <a:xfrm>
            <a:off x="2286000" y="2228850"/>
            <a:ext cx="1463040" cy="720090"/>
          </a:xfrm>
          <a:prstGeom prst="line">
            <a:avLst/>
          </a:prstGeom>
          <a:noFill/>
          <a:ln w="9525">
            <a:solidFill>
              <a:schemeClr val="accent6"/>
            </a:solidFill>
            <a:prstDash val="solid"/>
          </a:ln>
        </p:spPr>
      </p:sp>
      <p:sp>
        <p:nvSpPr>
          <p:cNvPr id="21" name="edge"/>
          <p:cNvSpPr/>
          <p:nvPr/>
        </p:nvSpPr>
        <p:spPr>
          <a:xfrm flipV="1">
            <a:off x="2286000" y="1988820"/>
            <a:ext cx="1463040" cy="720090"/>
          </a:xfrm>
          <a:prstGeom prst="line">
            <a:avLst/>
          </a:prstGeom>
          <a:noFill/>
          <a:ln w="9525">
            <a:solidFill>
              <a:schemeClr val="accent6"/>
            </a:solidFill>
            <a:prstDash val="solid"/>
          </a:ln>
        </p:spPr>
      </p:sp>
      <p:sp>
        <p:nvSpPr>
          <p:cNvPr id="22" name="edge"/>
          <p:cNvSpPr/>
          <p:nvPr/>
        </p:nvSpPr>
        <p:spPr>
          <a:xfrm>
            <a:off x="2286000" y="2708910"/>
            <a:ext cx="1463040" cy="240030"/>
          </a:xfrm>
          <a:prstGeom prst="line">
            <a:avLst/>
          </a:prstGeom>
          <a:noFill/>
          <a:ln w="9525">
            <a:solidFill>
              <a:schemeClr val="accent6"/>
            </a:solidFill>
            <a:prstDash val="solid"/>
          </a:ln>
        </p:spPr>
      </p:sp>
      <p:sp>
        <p:nvSpPr>
          <p:cNvPr id="23" name="edge"/>
          <p:cNvSpPr/>
          <p:nvPr/>
        </p:nvSpPr>
        <p:spPr>
          <a:xfrm flipV="1">
            <a:off x="2286000" y="1988820"/>
            <a:ext cx="1463040" cy="1200150"/>
          </a:xfrm>
          <a:prstGeom prst="line">
            <a:avLst/>
          </a:prstGeom>
          <a:noFill/>
          <a:ln w="9525">
            <a:solidFill>
              <a:schemeClr val="accent6"/>
            </a:solidFill>
            <a:prstDash val="solid"/>
          </a:ln>
        </p:spPr>
      </p:sp>
      <p:sp>
        <p:nvSpPr>
          <p:cNvPr id="24" name="edge"/>
          <p:cNvSpPr/>
          <p:nvPr/>
        </p:nvSpPr>
        <p:spPr>
          <a:xfrm flipV="1">
            <a:off x="2286000" y="2948940"/>
            <a:ext cx="1463040" cy="240030"/>
          </a:xfrm>
          <a:prstGeom prst="line">
            <a:avLst/>
          </a:prstGeom>
          <a:noFill/>
          <a:ln w="9525">
            <a:solidFill>
              <a:schemeClr val="accent6"/>
            </a:solidFill>
            <a:prstDash val="solid"/>
          </a:ln>
        </p:spPr>
      </p:sp>
      <p:sp>
        <p:nvSpPr>
          <p:cNvPr id="25" name="neuron"/>
          <p:cNvSpPr/>
          <p:nvPr/>
        </p:nvSpPr>
        <p:spPr>
          <a:xfrm>
            <a:off x="676656" y="1682496"/>
            <a:ext cx="292608" cy="292608"/>
          </a:xfrm>
          <a:prstGeom prst="ellipse">
            <a:avLst/>
          </a:prstGeom>
          <a:solidFill>
            <a:schemeClr val="accent1"/>
          </a:solidFill>
          <a:ln w="12700">
            <a:solidFill>
              <a:schemeClr val="tx1"/>
            </a:solidFill>
            <a:prstDash val="solid"/>
          </a:ln>
        </p:spPr>
      </p:sp>
      <p:sp>
        <p:nvSpPr>
          <p:cNvPr id="26" name="neuron"/>
          <p:cNvSpPr/>
          <p:nvPr/>
        </p:nvSpPr>
        <p:spPr>
          <a:xfrm>
            <a:off x="676656" y="2322576"/>
            <a:ext cx="292608" cy="292608"/>
          </a:xfrm>
          <a:prstGeom prst="ellipse">
            <a:avLst/>
          </a:prstGeom>
          <a:solidFill>
            <a:schemeClr val="accent1"/>
          </a:solidFill>
          <a:ln w="12700">
            <a:solidFill>
              <a:schemeClr val="tx1"/>
            </a:solidFill>
            <a:prstDash val="solid"/>
          </a:ln>
        </p:spPr>
      </p:sp>
      <p:sp>
        <p:nvSpPr>
          <p:cNvPr id="27" name="neuron"/>
          <p:cNvSpPr/>
          <p:nvPr/>
        </p:nvSpPr>
        <p:spPr>
          <a:xfrm>
            <a:off x="676656" y="2962656"/>
            <a:ext cx="292608" cy="292608"/>
          </a:xfrm>
          <a:prstGeom prst="ellipse">
            <a:avLst/>
          </a:prstGeom>
          <a:solidFill>
            <a:schemeClr val="accent1"/>
          </a:solidFill>
          <a:ln w="12700">
            <a:solidFill>
              <a:schemeClr val="tx1"/>
            </a:solidFill>
            <a:prstDash val="solid"/>
          </a:ln>
        </p:spPr>
      </p:sp>
      <p:sp>
        <p:nvSpPr>
          <p:cNvPr id="28" name="Text 25"/>
          <p:cNvSpPr txBox="1"/>
          <p:nvPr/>
        </p:nvSpPr>
        <p:spPr>
          <a:xfrm>
            <a:off x="365760" y="3474720"/>
            <a:ext cx="914400" cy="274320"/>
          </a:xfrm>
          <a:prstGeom prst="rect">
            <a:avLst/>
          </a:prstGeom>
          <a:noFill/>
          <a:ln/>
        </p:spPr>
        <p:txBody>
          <a:bodyPr wrap="square" lIns="0" tIns="0" rIns="0" bIns="0" rtlCol="0" anchor="t"/>
          <a:lstStyle/>
          <a:p>
            <a:pPr algn="ctr" indent="0" marL="0">
              <a:buNone/>
            </a:pPr>
            <a:r>
              <a:rPr lang="en-US" sz="1200" dirty="0">
                <a:solidFill>
                  <a:schemeClr val="accent6"/>
                </a:solidFill>
                <a:latin typeface="Malgun Gothic" pitchFamily="34" charset="0"/>
                <a:ea typeface="Malgun Gothic" pitchFamily="34" charset="-122"/>
                <a:cs typeface="Malgun Gothic" pitchFamily="34" charset="-120"/>
              </a:rPr>
              <a:t>입력층</a:t>
            </a:r>
            <a:endParaRPr lang="en-US" sz="1200" dirty="0"/>
          </a:p>
        </p:txBody>
      </p:sp>
      <p:sp>
        <p:nvSpPr>
          <p:cNvPr id="29" name="neuron"/>
          <p:cNvSpPr/>
          <p:nvPr/>
        </p:nvSpPr>
        <p:spPr>
          <a:xfrm>
            <a:off x="2139696" y="1602486"/>
            <a:ext cx="292608" cy="292608"/>
          </a:xfrm>
          <a:prstGeom prst="ellipse">
            <a:avLst/>
          </a:prstGeom>
          <a:solidFill>
            <a:schemeClr val="accent2"/>
          </a:solidFill>
          <a:ln w="12700">
            <a:solidFill>
              <a:schemeClr val="tx1"/>
            </a:solidFill>
            <a:prstDash val="solid"/>
          </a:ln>
        </p:spPr>
      </p:sp>
      <p:sp>
        <p:nvSpPr>
          <p:cNvPr id="30" name="neuron"/>
          <p:cNvSpPr/>
          <p:nvPr/>
        </p:nvSpPr>
        <p:spPr>
          <a:xfrm>
            <a:off x="2139696" y="2082546"/>
            <a:ext cx="292608" cy="292608"/>
          </a:xfrm>
          <a:prstGeom prst="ellipse">
            <a:avLst/>
          </a:prstGeom>
          <a:solidFill>
            <a:schemeClr val="accent2"/>
          </a:solidFill>
          <a:ln w="12700">
            <a:solidFill>
              <a:schemeClr val="tx1"/>
            </a:solidFill>
            <a:prstDash val="solid"/>
          </a:ln>
        </p:spPr>
      </p:sp>
      <p:sp>
        <p:nvSpPr>
          <p:cNvPr id="31" name="neuron"/>
          <p:cNvSpPr/>
          <p:nvPr/>
        </p:nvSpPr>
        <p:spPr>
          <a:xfrm>
            <a:off x="2139696" y="2562606"/>
            <a:ext cx="292608" cy="292608"/>
          </a:xfrm>
          <a:prstGeom prst="ellipse">
            <a:avLst/>
          </a:prstGeom>
          <a:solidFill>
            <a:schemeClr val="accent2"/>
          </a:solidFill>
          <a:ln w="12700">
            <a:solidFill>
              <a:schemeClr val="tx1"/>
            </a:solidFill>
            <a:prstDash val="solid"/>
          </a:ln>
        </p:spPr>
      </p:sp>
      <p:sp>
        <p:nvSpPr>
          <p:cNvPr id="32" name="neuron"/>
          <p:cNvSpPr/>
          <p:nvPr/>
        </p:nvSpPr>
        <p:spPr>
          <a:xfrm>
            <a:off x="2139696" y="3042666"/>
            <a:ext cx="292608" cy="292608"/>
          </a:xfrm>
          <a:prstGeom prst="ellipse">
            <a:avLst/>
          </a:prstGeom>
          <a:solidFill>
            <a:schemeClr val="accent2"/>
          </a:solidFill>
          <a:ln w="12700">
            <a:solidFill>
              <a:schemeClr val="tx1"/>
            </a:solidFill>
            <a:prstDash val="solid"/>
          </a:ln>
        </p:spPr>
      </p:sp>
      <p:sp>
        <p:nvSpPr>
          <p:cNvPr id="33" name="Text 30"/>
          <p:cNvSpPr txBox="1"/>
          <p:nvPr/>
        </p:nvSpPr>
        <p:spPr>
          <a:xfrm>
            <a:off x="1828800" y="3474720"/>
            <a:ext cx="914400" cy="274320"/>
          </a:xfrm>
          <a:prstGeom prst="rect">
            <a:avLst/>
          </a:prstGeom>
          <a:noFill/>
          <a:ln/>
        </p:spPr>
        <p:txBody>
          <a:bodyPr wrap="square" lIns="0" tIns="0" rIns="0" bIns="0" rtlCol="0" anchor="t"/>
          <a:lstStyle/>
          <a:p>
            <a:pPr algn="ctr" indent="0" marL="0">
              <a:buNone/>
            </a:pPr>
            <a:r>
              <a:rPr lang="en-US" sz="1200" dirty="0">
                <a:solidFill>
                  <a:schemeClr val="accent6"/>
                </a:solidFill>
                <a:latin typeface="Malgun Gothic" pitchFamily="34" charset="0"/>
                <a:ea typeface="Malgun Gothic" pitchFamily="34" charset="-122"/>
                <a:cs typeface="Malgun Gothic" pitchFamily="34" charset="-120"/>
              </a:rPr>
              <a:t>은닉층</a:t>
            </a:r>
            <a:endParaRPr lang="en-US" sz="1200" dirty="0"/>
          </a:p>
        </p:txBody>
      </p:sp>
      <p:sp>
        <p:nvSpPr>
          <p:cNvPr id="34" name="neuron"/>
          <p:cNvSpPr/>
          <p:nvPr/>
        </p:nvSpPr>
        <p:spPr>
          <a:xfrm>
            <a:off x="3602736" y="1842516"/>
            <a:ext cx="292608" cy="292608"/>
          </a:xfrm>
          <a:prstGeom prst="ellipse">
            <a:avLst/>
          </a:prstGeom>
          <a:solidFill>
            <a:schemeClr val="accent4"/>
          </a:solidFill>
          <a:ln w="12700">
            <a:solidFill>
              <a:schemeClr val="tx1"/>
            </a:solidFill>
            <a:prstDash val="solid"/>
          </a:ln>
        </p:spPr>
      </p:sp>
      <p:sp>
        <p:nvSpPr>
          <p:cNvPr id="35" name="neuron"/>
          <p:cNvSpPr/>
          <p:nvPr/>
        </p:nvSpPr>
        <p:spPr>
          <a:xfrm>
            <a:off x="3602736" y="2802636"/>
            <a:ext cx="292608" cy="292608"/>
          </a:xfrm>
          <a:prstGeom prst="ellipse">
            <a:avLst/>
          </a:prstGeom>
          <a:solidFill>
            <a:schemeClr val="accent4"/>
          </a:solidFill>
          <a:ln w="12700">
            <a:solidFill>
              <a:schemeClr val="tx1"/>
            </a:solidFill>
            <a:prstDash val="solid"/>
          </a:ln>
        </p:spPr>
      </p:sp>
      <p:sp>
        <p:nvSpPr>
          <p:cNvPr id="36" name="Text 33"/>
          <p:cNvSpPr txBox="1"/>
          <p:nvPr/>
        </p:nvSpPr>
        <p:spPr>
          <a:xfrm>
            <a:off x="3291840" y="3474720"/>
            <a:ext cx="914400" cy="274320"/>
          </a:xfrm>
          <a:prstGeom prst="rect">
            <a:avLst/>
          </a:prstGeom>
          <a:noFill/>
          <a:ln/>
        </p:spPr>
        <p:txBody>
          <a:bodyPr wrap="square" lIns="0" tIns="0" rIns="0" bIns="0" rtlCol="0" anchor="t"/>
          <a:lstStyle/>
          <a:p>
            <a:pPr algn="ctr" indent="0" marL="0">
              <a:buNone/>
            </a:pPr>
            <a:r>
              <a:rPr lang="en-US" sz="1200" dirty="0">
                <a:solidFill>
                  <a:schemeClr val="accent6"/>
                </a:solidFill>
                <a:latin typeface="Malgun Gothic" pitchFamily="34" charset="0"/>
                <a:ea typeface="Malgun Gothic" pitchFamily="34" charset="-122"/>
                <a:cs typeface="Malgun Gothic" pitchFamily="34" charset="-120"/>
              </a:rPr>
              <a:t>출력층</a:t>
            </a:r>
            <a:endParaRPr lang="en-US" sz="1200" dirty="0"/>
          </a:p>
        </p:txBody>
      </p:sp>
      <p:sp>
        <p:nvSpPr>
          <p:cNvPr id="37" name="step-badge1"/>
          <p:cNvSpPr/>
          <p:nvPr/>
        </p:nvSpPr>
        <p:spPr>
          <a:xfrm>
            <a:off x="4937760" y="1463040"/>
            <a:ext cx="384048" cy="384048"/>
          </a:xfrm>
          <a:prstGeom prst="ellipse">
            <a:avLst/>
          </a:prstGeom>
          <a:solidFill>
            <a:schemeClr val="accent1"/>
          </a:solidFill>
          <a:ln w="12700">
            <a:solidFill>
              <a:schemeClr val="accent1"/>
            </a:solidFill>
            <a:prstDash val="solid"/>
          </a:ln>
        </p:spPr>
      </p:sp>
      <p:sp>
        <p:nvSpPr>
          <p:cNvPr id="38" name="Text 35"/>
          <p:cNvSpPr txBox="1"/>
          <p:nvPr/>
        </p:nvSpPr>
        <p:spPr>
          <a:xfrm>
            <a:off x="4937760" y="1463040"/>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latin typeface="Malgun Gothic" pitchFamily="34" charset="0"/>
                <a:ea typeface="Malgun Gothic" pitchFamily="34" charset="-122"/>
                <a:cs typeface="Malgun Gothic" pitchFamily="34" charset="-120"/>
              </a:rPr>
              <a:t>1</a:t>
            </a:r>
            <a:endParaRPr lang="en-US" sz="1400" dirty="0"/>
          </a:p>
        </p:txBody>
      </p:sp>
      <p:sp>
        <p:nvSpPr>
          <p:cNvPr id="39" name="Text 36"/>
          <p:cNvSpPr txBox="1"/>
          <p:nvPr/>
        </p:nvSpPr>
        <p:spPr>
          <a:xfrm>
            <a:off x="5486400" y="1463040"/>
            <a:ext cx="3200400" cy="384048"/>
          </a:xfrm>
          <a:prstGeom prst="rect">
            <a:avLst/>
          </a:prstGeom>
          <a:noFill/>
          <a:ln/>
        </p:spPr>
        <p:txBody>
          <a:bodyPr wrap="square" lIns="0" tIns="0" rIns="0" bIns="0" rtlCol="0" anchor="ctr"/>
          <a:lstStyle/>
          <a:p>
            <a:pPr indent="0" marL="0">
              <a:buNone/>
            </a:pPr>
            <a:r>
              <a:rPr lang="en-US" sz="1400" dirty="0">
                <a:solidFill>
                  <a:schemeClr val="bg1"/>
                </a:solidFill>
                <a:latin typeface="Malgun Gothic" pitchFamily="34" charset="0"/>
                <a:ea typeface="Malgun Gothic" pitchFamily="34" charset="-122"/>
                <a:cs typeface="Malgun Gothic" pitchFamily="34" charset="-120"/>
              </a:rPr>
              <a:t>입력 데이터로 예측값을 만든다</a:t>
            </a:r>
            <a:endParaRPr lang="en-US" sz="1400" dirty="0"/>
          </a:p>
        </p:txBody>
      </p:sp>
      <p:sp>
        <p:nvSpPr>
          <p:cNvPr id="40" name="step-badge2"/>
          <p:cNvSpPr/>
          <p:nvPr/>
        </p:nvSpPr>
        <p:spPr>
          <a:xfrm>
            <a:off x="4937760" y="1993392"/>
            <a:ext cx="384048" cy="384048"/>
          </a:xfrm>
          <a:prstGeom prst="ellipse">
            <a:avLst/>
          </a:prstGeom>
          <a:solidFill>
            <a:schemeClr val="accent1"/>
          </a:solidFill>
          <a:ln w="12700">
            <a:solidFill>
              <a:schemeClr val="accent1"/>
            </a:solidFill>
            <a:prstDash val="solid"/>
          </a:ln>
        </p:spPr>
      </p:sp>
      <p:sp>
        <p:nvSpPr>
          <p:cNvPr id="41" name="Text 38"/>
          <p:cNvSpPr txBox="1"/>
          <p:nvPr/>
        </p:nvSpPr>
        <p:spPr>
          <a:xfrm>
            <a:off x="4937760" y="1993392"/>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latin typeface="Malgun Gothic" pitchFamily="34" charset="0"/>
                <a:ea typeface="Malgun Gothic" pitchFamily="34" charset="-122"/>
                <a:cs typeface="Malgun Gothic" pitchFamily="34" charset="-120"/>
              </a:rPr>
              <a:t>2</a:t>
            </a:r>
            <a:endParaRPr lang="en-US" sz="1400" dirty="0"/>
          </a:p>
        </p:txBody>
      </p:sp>
      <p:sp>
        <p:nvSpPr>
          <p:cNvPr id="42" name="Text 39"/>
          <p:cNvSpPr txBox="1"/>
          <p:nvPr/>
        </p:nvSpPr>
        <p:spPr>
          <a:xfrm>
            <a:off x="5486400" y="1993392"/>
            <a:ext cx="3200400" cy="384048"/>
          </a:xfrm>
          <a:prstGeom prst="rect">
            <a:avLst/>
          </a:prstGeom>
          <a:noFill/>
          <a:ln/>
        </p:spPr>
        <p:txBody>
          <a:bodyPr wrap="square" lIns="0" tIns="0" rIns="0" bIns="0" rtlCol="0" anchor="ctr"/>
          <a:lstStyle/>
          <a:p>
            <a:pPr indent="0" marL="0">
              <a:buNone/>
            </a:pPr>
            <a:r>
              <a:rPr lang="en-US" sz="1400" dirty="0">
                <a:solidFill>
                  <a:schemeClr val="bg1"/>
                </a:solidFill>
                <a:latin typeface="Malgun Gothic" pitchFamily="34" charset="0"/>
                <a:ea typeface="Malgun Gothic" pitchFamily="34" charset="-122"/>
                <a:cs typeface="Malgun Gothic" pitchFamily="34" charset="-120"/>
              </a:rPr>
              <a:t>정답과 비교해 오차(손실)를 계산한다</a:t>
            </a:r>
            <a:endParaRPr lang="en-US" sz="1400" dirty="0"/>
          </a:p>
        </p:txBody>
      </p:sp>
      <p:sp>
        <p:nvSpPr>
          <p:cNvPr id="43" name="step-badge3"/>
          <p:cNvSpPr/>
          <p:nvPr/>
        </p:nvSpPr>
        <p:spPr>
          <a:xfrm>
            <a:off x="4937760" y="2523744"/>
            <a:ext cx="384048" cy="384048"/>
          </a:xfrm>
          <a:prstGeom prst="ellipse">
            <a:avLst/>
          </a:prstGeom>
          <a:solidFill>
            <a:schemeClr val="accent1"/>
          </a:solidFill>
          <a:ln w="12700">
            <a:solidFill>
              <a:schemeClr val="accent1"/>
            </a:solidFill>
            <a:prstDash val="solid"/>
          </a:ln>
        </p:spPr>
      </p:sp>
      <p:sp>
        <p:nvSpPr>
          <p:cNvPr id="44" name="Text 41"/>
          <p:cNvSpPr txBox="1"/>
          <p:nvPr/>
        </p:nvSpPr>
        <p:spPr>
          <a:xfrm>
            <a:off x="4937760" y="2523744"/>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latin typeface="Malgun Gothic" pitchFamily="34" charset="0"/>
                <a:ea typeface="Malgun Gothic" pitchFamily="34" charset="-122"/>
                <a:cs typeface="Malgun Gothic" pitchFamily="34" charset="-120"/>
              </a:rPr>
              <a:t>3</a:t>
            </a:r>
            <a:endParaRPr lang="en-US" sz="1400" dirty="0"/>
          </a:p>
        </p:txBody>
      </p:sp>
      <p:sp>
        <p:nvSpPr>
          <p:cNvPr id="45" name="Text 42"/>
          <p:cNvSpPr txBox="1"/>
          <p:nvPr/>
        </p:nvSpPr>
        <p:spPr>
          <a:xfrm>
            <a:off x="5486400" y="2523744"/>
            <a:ext cx="3200400" cy="384048"/>
          </a:xfrm>
          <a:prstGeom prst="rect">
            <a:avLst/>
          </a:prstGeom>
          <a:noFill/>
          <a:ln/>
        </p:spPr>
        <p:txBody>
          <a:bodyPr wrap="square" lIns="0" tIns="0" rIns="0" bIns="0" rtlCol="0" anchor="ctr"/>
          <a:lstStyle/>
          <a:p>
            <a:pPr indent="0" marL="0">
              <a:buNone/>
            </a:pPr>
            <a:r>
              <a:rPr lang="en-US" sz="1400" dirty="0">
                <a:solidFill>
                  <a:schemeClr val="bg1"/>
                </a:solidFill>
                <a:latin typeface="Malgun Gothic" pitchFamily="34" charset="0"/>
                <a:ea typeface="Malgun Gothic" pitchFamily="34" charset="-122"/>
                <a:cs typeface="Malgun Gothic" pitchFamily="34" charset="-120"/>
              </a:rPr>
              <a:t>오차가 줄어드는 방향으로 가중치를 고친다</a:t>
            </a:r>
            <a:endParaRPr lang="en-US" sz="1400" dirty="0"/>
          </a:p>
        </p:txBody>
      </p:sp>
      <p:sp>
        <p:nvSpPr>
          <p:cNvPr id="46" name="step-badge4"/>
          <p:cNvSpPr/>
          <p:nvPr/>
        </p:nvSpPr>
        <p:spPr>
          <a:xfrm>
            <a:off x="4937760" y="3054096"/>
            <a:ext cx="384048" cy="384048"/>
          </a:xfrm>
          <a:prstGeom prst="ellipse">
            <a:avLst/>
          </a:prstGeom>
          <a:solidFill>
            <a:schemeClr val="accent1"/>
          </a:solidFill>
          <a:ln w="12700">
            <a:solidFill>
              <a:schemeClr val="accent1"/>
            </a:solidFill>
            <a:prstDash val="solid"/>
          </a:ln>
        </p:spPr>
      </p:sp>
      <p:sp>
        <p:nvSpPr>
          <p:cNvPr id="47" name="Text 44"/>
          <p:cNvSpPr txBox="1"/>
          <p:nvPr/>
        </p:nvSpPr>
        <p:spPr>
          <a:xfrm>
            <a:off x="4937760" y="3054096"/>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latin typeface="Malgun Gothic" pitchFamily="34" charset="0"/>
                <a:ea typeface="Malgun Gothic" pitchFamily="34" charset="-122"/>
                <a:cs typeface="Malgun Gothic" pitchFamily="34" charset="-120"/>
              </a:rPr>
              <a:t>4</a:t>
            </a:r>
            <a:endParaRPr lang="en-US" sz="1400" dirty="0"/>
          </a:p>
        </p:txBody>
      </p:sp>
      <p:sp>
        <p:nvSpPr>
          <p:cNvPr id="48" name="Text 45"/>
          <p:cNvSpPr txBox="1"/>
          <p:nvPr/>
        </p:nvSpPr>
        <p:spPr>
          <a:xfrm>
            <a:off x="5486400" y="3054096"/>
            <a:ext cx="3200400" cy="384048"/>
          </a:xfrm>
          <a:prstGeom prst="rect">
            <a:avLst/>
          </a:prstGeom>
          <a:noFill/>
          <a:ln/>
        </p:spPr>
        <p:txBody>
          <a:bodyPr wrap="square" lIns="0" tIns="0" rIns="0" bIns="0" rtlCol="0" anchor="ctr"/>
          <a:lstStyle/>
          <a:p>
            <a:pPr indent="0" marL="0">
              <a:buNone/>
            </a:pPr>
            <a:r>
              <a:rPr lang="en-US" sz="1400" dirty="0">
                <a:solidFill>
                  <a:schemeClr val="bg1"/>
                </a:solidFill>
                <a:latin typeface="Malgun Gothic" pitchFamily="34" charset="0"/>
                <a:ea typeface="Malgun Gothic" pitchFamily="34" charset="-122"/>
                <a:cs typeface="Malgun Gothic" pitchFamily="34" charset="-120"/>
              </a:rPr>
              <a:t>수없이 반복하면 패턴을 학습한다</a:t>
            </a:r>
            <a:endParaRPr lang="en-US" sz="1400" dirty="0"/>
          </a:p>
        </p:txBody>
      </p:sp>
      <p:sp>
        <p:nvSpPr>
          <p:cNvPr id="49" name="callout-bias"/>
          <p:cNvSpPr/>
          <p:nvPr/>
        </p:nvSpPr>
        <p:spPr>
          <a:xfrm>
            <a:off x="457200" y="3840480"/>
            <a:ext cx="8229600" cy="685800"/>
          </a:xfrm>
          <a:prstGeom prst="roundRect">
            <a:avLst>
              <a:gd name="adj" fmla="val 16000"/>
            </a:avLst>
          </a:prstGeom>
          <a:solidFill>
            <a:schemeClr val="tx2"/>
          </a:solidFill>
          <a:ln w="12700">
            <a:solidFill>
              <a:schemeClr val="tx2"/>
            </a:solidFill>
            <a:prstDash val="solid"/>
          </a:ln>
        </p:spPr>
      </p:sp>
      <p:sp>
        <p:nvSpPr>
          <p:cNvPr id="50" name="Text 47"/>
          <p:cNvSpPr txBox="1"/>
          <p:nvPr/>
        </p:nvSpPr>
        <p:spPr>
          <a:xfrm>
            <a:off x="685800" y="3840480"/>
            <a:ext cx="7772400" cy="685800"/>
          </a:xfrm>
          <a:prstGeom prst="rect">
            <a:avLst/>
          </a:prstGeom>
          <a:noFill/>
          <a:ln/>
        </p:spPr>
        <p:txBody>
          <a:bodyPr wrap="square" lIns="0" tIns="0" rIns="0" bIns="0" rtlCol="0" anchor="ctr"/>
          <a:lstStyle/>
          <a:p>
            <a:pPr indent="0" marL="0">
              <a:buNone/>
            </a:pPr>
            <a:r>
              <a:rPr lang="en-US" sz="1400" b="1" dirty="0">
                <a:solidFill>
                  <a:schemeClr val="accent4"/>
                </a:solidFill>
                <a:latin typeface="Malgun Gothic" pitchFamily="34" charset="0"/>
                <a:ea typeface="Malgun Gothic" pitchFamily="34" charset="-122"/>
                <a:cs typeface="Malgun Gothic" pitchFamily="34" charset="-120"/>
              </a:rPr>
              <a:t>편향의 원인  </a:t>
            </a:r>
            <a:pPr indent="0" marL="0">
              <a:buNone/>
            </a:pPr>
            <a:r>
              <a:rPr lang="en-US" sz="1400" dirty="0">
                <a:solidFill>
                  <a:schemeClr val="bg1"/>
                </a:solidFill>
                <a:latin typeface="Malgun Gothic" pitchFamily="34" charset="0"/>
                <a:ea typeface="Malgun Gothic" pitchFamily="34" charset="-122"/>
                <a:cs typeface="Malgun Gothic" pitchFamily="34" charset="-120"/>
              </a:rPr>
              <a:t>데이터가 치우치면 결과도 치우친다. 소설 속 AI는 '보험료 최소화' 하나만 최적화했다.</a:t>
            </a:r>
            <a:endParaRPr lang="en-US" sz="14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2800" b="1" dirty="0">
                <a:solidFill>
                  <a:schemeClr val="bg1"/>
                </a:solidFill>
              </a:rPr>
              <a:t>원리 ② 자율주행은 센서로 보고 판단해 제어한다</a:t>
            </a:r>
            <a:endParaRPr lang="en-US" sz="2800" dirty="0"/>
          </a:p>
        </p:txBody>
      </p:sp>
      <p:sp>
        <p:nvSpPr>
          <p:cNvPr id="4" name="Text 1"/>
          <p:cNvSpPr txBox="1"/>
          <p:nvPr/>
        </p:nvSpPr>
        <p:spPr>
          <a:xfrm>
            <a:off x="457200" y="1097280"/>
            <a:ext cx="5486400" cy="274320"/>
          </a:xfrm>
          <a:prstGeom prst="rect">
            <a:avLst/>
          </a:prstGeom>
          <a:noFill/>
          <a:ln/>
        </p:spPr>
        <p:txBody>
          <a:bodyPr wrap="square" lIns="0" tIns="0" rIns="0" bIns="0" rtlCol="0" anchor="t"/>
          <a:lstStyle/>
          <a:p>
            <a:pPr indent="0" marL="0">
              <a:buNone/>
            </a:pPr>
            <a:r>
              <a:rPr lang="en-US" sz="1200" b="1" dirty="0">
                <a:solidFill>
                  <a:schemeClr val="accent1"/>
                </a:solidFill>
                <a:latin typeface="Malgun Gothic" pitchFamily="34" charset="0"/>
                <a:ea typeface="Malgun Gothic" pitchFamily="34" charset="-122"/>
                <a:cs typeface="Malgun Gothic" pitchFamily="34" charset="-120"/>
              </a:rPr>
              <a:t>교과서 개념: 센서, 정보의 수집과 처리</a:t>
            </a:r>
            <a:endParaRPr lang="en-US" sz="1200" dirty="0"/>
          </a:p>
        </p:txBody>
      </p:sp>
      <p:sp>
        <p:nvSpPr>
          <p:cNvPr id="5" name="flow1"/>
          <p:cNvSpPr/>
          <p:nvPr/>
        </p:nvSpPr>
        <p:spPr>
          <a:xfrm>
            <a:off x="457200" y="1463040"/>
            <a:ext cx="2377440" cy="457200"/>
          </a:xfrm>
          <a:prstGeom prst="roundRect">
            <a:avLst>
              <a:gd name="adj" fmla="val 50000"/>
            </a:avLst>
          </a:prstGeom>
          <a:solidFill>
            <a:schemeClr val="accent3"/>
          </a:solidFill>
          <a:ln w="12700">
            <a:solidFill>
              <a:schemeClr val="accent3"/>
            </a:solidFill>
            <a:prstDash val="solid"/>
          </a:ln>
        </p:spPr>
      </p:sp>
      <p:sp>
        <p:nvSpPr>
          <p:cNvPr id="6" name="Text 3"/>
          <p:cNvSpPr txBox="1"/>
          <p:nvPr/>
        </p:nvSpPr>
        <p:spPr>
          <a:xfrm>
            <a:off x="457200" y="1463040"/>
            <a:ext cx="2377440" cy="457200"/>
          </a:xfrm>
          <a:prstGeom prst="rect">
            <a:avLst/>
          </a:prstGeom>
          <a:noFill/>
          <a:ln/>
        </p:spPr>
        <p:txBody>
          <a:bodyPr wrap="square" lIns="0" tIns="0" rIns="0" bIns="0" rtlCol="0" anchor="ctr"/>
          <a:lstStyle/>
          <a:p>
            <a:pPr algn="ctr" indent="0" marL="0">
              <a:buNone/>
            </a:pPr>
            <a:r>
              <a:rPr lang="en-US" sz="1400" b="1" dirty="0">
                <a:solidFill>
                  <a:schemeClr val="bg1"/>
                </a:solidFill>
                <a:latin typeface="Malgun Gothic" pitchFamily="34" charset="0"/>
                <a:ea typeface="Malgun Gothic" pitchFamily="34" charset="-122"/>
                <a:cs typeface="Malgun Gothic" pitchFamily="34" charset="-120"/>
              </a:rPr>
              <a:t>인식 (센서)</a:t>
            </a:r>
            <a:endParaRPr lang="en-US" sz="1400" dirty="0"/>
          </a:p>
        </p:txBody>
      </p:sp>
      <p:sp>
        <p:nvSpPr>
          <p:cNvPr id="7" name="arrow"/>
          <p:cNvSpPr/>
          <p:nvPr/>
        </p:nvSpPr>
        <p:spPr>
          <a:xfrm>
            <a:off x="2880360" y="1554480"/>
            <a:ext cx="365760" cy="274320"/>
          </a:xfrm>
          <a:prstGeom prst="rightArrow">
            <a:avLst/>
          </a:prstGeom>
          <a:solidFill>
            <a:schemeClr val="accent1"/>
          </a:solidFill>
          <a:ln w="12700">
            <a:solidFill>
              <a:schemeClr val="accent1"/>
            </a:solidFill>
            <a:prstDash val="solid"/>
          </a:ln>
        </p:spPr>
      </p:sp>
      <p:sp>
        <p:nvSpPr>
          <p:cNvPr id="8" name="flow2"/>
          <p:cNvSpPr/>
          <p:nvPr/>
        </p:nvSpPr>
        <p:spPr>
          <a:xfrm>
            <a:off x="3291840" y="1463040"/>
            <a:ext cx="2377440" cy="457200"/>
          </a:xfrm>
          <a:prstGeom prst="roundRect">
            <a:avLst>
              <a:gd name="adj" fmla="val 50000"/>
            </a:avLst>
          </a:prstGeom>
          <a:solidFill>
            <a:schemeClr val="accent3"/>
          </a:solidFill>
          <a:ln w="12700">
            <a:solidFill>
              <a:schemeClr val="accent3"/>
            </a:solidFill>
            <a:prstDash val="solid"/>
          </a:ln>
        </p:spPr>
      </p:sp>
      <p:sp>
        <p:nvSpPr>
          <p:cNvPr id="9" name="Text 6"/>
          <p:cNvSpPr txBox="1"/>
          <p:nvPr/>
        </p:nvSpPr>
        <p:spPr>
          <a:xfrm>
            <a:off x="3291840" y="1463040"/>
            <a:ext cx="2377440" cy="457200"/>
          </a:xfrm>
          <a:prstGeom prst="rect">
            <a:avLst/>
          </a:prstGeom>
          <a:noFill/>
          <a:ln/>
        </p:spPr>
        <p:txBody>
          <a:bodyPr wrap="square" lIns="0" tIns="0" rIns="0" bIns="0" rtlCol="0" anchor="ctr"/>
          <a:lstStyle/>
          <a:p>
            <a:pPr algn="ctr" indent="0" marL="0">
              <a:buNone/>
            </a:pPr>
            <a:r>
              <a:rPr lang="en-US" sz="1400" b="1" dirty="0">
                <a:solidFill>
                  <a:schemeClr val="bg1"/>
                </a:solidFill>
                <a:latin typeface="Malgun Gothic" pitchFamily="34" charset="0"/>
                <a:ea typeface="Malgun Gothic" pitchFamily="34" charset="-122"/>
                <a:cs typeface="Malgun Gothic" pitchFamily="34" charset="-120"/>
              </a:rPr>
              <a:t>판단 (알고리즘)</a:t>
            </a:r>
            <a:endParaRPr lang="en-US" sz="1400" dirty="0"/>
          </a:p>
        </p:txBody>
      </p:sp>
      <p:sp>
        <p:nvSpPr>
          <p:cNvPr id="10" name="arrow"/>
          <p:cNvSpPr/>
          <p:nvPr/>
        </p:nvSpPr>
        <p:spPr>
          <a:xfrm>
            <a:off x="5715000" y="1554480"/>
            <a:ext cx="365760" cy="274320"/>
          </a:xfrm>
          <a:prstGeom prst="rightArrow">
            <a:avLst/>
          </a:prstGeom>
          <a:solidFill>
            <a:schemeClr val="accent1"/>
          </a:solidFill>
          <a:ln w="12700">
            <a:solidFill>
              <a:schemeClr val="accent1"/>
            </a:solidFill>
            <a:prstDash val="solid"/>
          </a:ln>
        </p:spPr>
      </p:sp>
      <p:sp>
        <p:nvSpPr>
          <p:cNvPr id="11" name="flow3"/>
          <p:cNvSpPr/>
          <p:nvPr/>
        </p:nvSpPr>
        <p:spPr>
          <a:xfrm>
            <a:off x="6126480" y="1463040"/>
            <a:ext cx="2377440" cy="457200"/>
          </a:xfrm>
          <a:prstGeom prst="roundRect">
            <a:avLst>
              <a:gd name="adj" fmla="val 50000"/>
            </a:avLst>
          </a:prstGeom>
          <a:solidFill>
            <a:schemeClr val="accent3"/>
          </a:solidFill>
          <a:ln w="12700">
            <a:solidFill>
              <a:schemeClr val="accent3"/>
            </a:solidFill>
            <a:prstDash val="solid"/>
          </a:ln>
        </p:spPr>
      </p:sp>
      <p:sp>
        <p:nvSpPr>
          <p:cNvPr id="12" name="Text 9"/>
          <p:cNvSpPr txBox="1"/>
          <p:nvPr/>
        </p:nvSpPr>
        <p:spPr>
          <a:xfrm>
            <a:off x="6126480" y="1463040"/>
            <a:ext cx="2377440" cy="457200"/>
          </a:xfrm>
          <a:prstGeom prst="rect">
            <a:avLst/>
          </a:prstGeom>
          <a:noFill/>
          <a:ln/>
        </p:spPr>
        <p:txBody>
          <a:bodyPr wrap="square" lIns="0" tIns="0" rIns="0" bIns="0" rtlCol="0" anchor="ctr"/>
          <a:lstStyle/>
          <a:p>
            <a:pPr algn="ctr" indent="0" marL="0">
              <a:buNone/>
            </a:pPr>
            <a:r>
              <a:rPr lang="en-US" sz="1400" b="1" dirty="0">
                <a:solidFill>
                  <a:schemeClr val="bg1"/>
                </a:solidFill>
                <a:latin typeface="Malgun Gothic" pitchFamily="34" charset="0"/>
                <a:ea typeface="Malgun Gothic" pitchFamily="34" charset="-122"/>
                <a:cs typeface="Malgun Gothic" pitchFamily="34" charset="-120"/>
              </a:rPr>
              <a:t>제어 (구동)</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2148840"/>
          <a:ext cx="8229600" cy="914400"/>
        </p:xfrm>
        <a:graphic>
          <a:graphicData uri="http://schemas.openxmlformats.org/drawingml/2006/table">
            <a:tbl>
              <a:tblPr/>
              <a:tblGrid>
                <a:gridCol w="1280160"/>
                <a:gridCol w="1828800"/>
                <a:gridCol w="2834640"/>
                <a:gridCol w="2286000"/>
              </a:tblGrid>
              <a:tr h="457200">
                <a:tc>
                  <a:txBody>
                    <a:bodyPr/>
                    <a:lstStyle/>
                    <a:p>
                      <a:pPr algn="ctr" indent="0" marL="0">
                        <a:buNone/>
                      </a:pPr>
                      <a:r>
                        <a:rPr lang="en-US" sz="1300" b="1" dirty="0">
                          <a:solidFill>
                            <a:schemeClr val="tx1"/>
                          </a:solidFill>
                          <a:latin typeface="Malgun Gothic" pitchFamily="34" charset="0"/>
                          <a:ea typeface="Malgun Gothic" pitchFamily="34" charset="-122"/>
                          <a:cs typeface="Malgun Gothic" pitchFamily="34" charset="-120"/>
                        </a:rPr>
                        <a:t>센서</a:t>
                      </a:r>
                      <a:endParaRPr lang="en-US" sz="1300" dirty="0">
                        <a:latin typeface="Malgun Gothic" charset="0"/>
                        <a:ea typeface="Malgun Gothic" charset="0"/>
                        <a:cs typeface="Malgun Gothic" charset="0"/>
                      </a:endParaRPr>
                    </a:p>
                  </a:txBody>
                  <a:tcPr marL="91440" marR="91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indent="0" marL="0">
                        <a:buNone/>
                      </a:pPr>
                      <a:r>
                        <a:rPr lang="en-US" sz="1300" b="1" dirty="0">
                          <a:solidFill>
                            <a:schemeClr val="tx1"/>
                          </a:solidFill>
                          <a:latin typeface="Malgun Gothic" pitchFamily="34" charset="0"/>
                          <a:ea typeface="Malgun Gothic" pitchFamily="34" charset="-122"/>
                          <a:cs typeface="Malgun Gothic" pitchFamily="34" charset="-120"/>
                        </a:rPr>
                        <a:t>감지 방식</a:t>
                      </a:r>
                      <a:endParaRPr lang="en-US" sz="1300" dirty="0">
                        <a:latin typeface="Malgun Gothic" charset="0"/>
                        <a:ea typeface="Malgun Gothic" charset="0"/>
                        <a:cs typeface="Malgun Gothic" charset="0"/>
                      </a:endParaRPr>
                    </a:p>
                  </a:txBody>
                  <a:tcPr marL="91440" marR="91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indent="0" marL="0">
                        <a:buNone/>
                      </a:pPr>
                      <a:r>
                        <a:rPr lang="en-US" sz="1300" b="1" dirty="0">
                          <a:solidFill>
                            <a:schemeClr val="tx1"/>
                          </a:solidFill>
                          <a:latin typeface="Malgun Gothic" pitchFamily="34" charset="0"/>
                          <a:ea typeface="Malgun Gothic" pitchFamily="34" charset="-122"/>
                          <a:cs typeface="Malgun Gothic" pitchFamily="34" charset="-120"/>
                        </a:rPr>
                        <a:t>강점</a:t>
                      </a:r>
                      <a:endParaRPr lang="en-US" sz="1300" dirty="0">
                        <a:latin typeface="Malgun Gothic" charset="0"/>
                        <a:ea typeface="Malgun Gothic" charset="0"/>
                        <a:cs typeface="Malgun Gothic" charset="0"/>
                      </a:endParaRPr>
                    </a:p>
                  </a:txBody>
                  <a:tcPr marL="91440" marR="91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indent="0" marL="0">
                        <a:buNone/>
                      </a:pPr>
                      <a:r>
                        <a:rPr lang="en-US" sz="1300" b="1" dirty="0">
                          <a:solidFill>
                            <a:schemeClr val="tx1"/>
                          </a:solidFill>
                          <a:latin typeface="Malgun Gothic" pitchFamily="34" charset="0"/>
                          <a:ea typeface="Malgun Gothic" pitchFamily="34" charset="-122"/>
                          <a:cs typeface="Malgun Gothic" pitchFamily="34" charset="-120"/>
                        </a:rPr>
                        <a:t>약점</a:t>
                      </a:r>
                      <a:endParaRPr lang="en-US" sz="1300" dirty="0">
                        <a:latin typeface="Malgun Gothic" charset="0"/>
                        <a:ea typeface="Malgun Gothic" charset="0"/>
                        <a:cs typeface="Malgun Gothic" charset="0"/>
                      </a:endParaRPr>
                    </a:p>
                  </a:txBody>
                  <a:tcPr marL="91440" marR="91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r>
              <a:tr h="457200">
                <a:tc>
                  <a:txBody>
                    <a:bodyPr/>
                    <a:lstStyle/>
                    <a:p>
                      <a:pPr indent="0" marL="0">
                        <a:buNone/>
                      </a:pPr>
                      <a:r>
                        <a:rPr lang="en-US" sz="1300" b="1" dirty="0">
                          <a:solidFill>
                            <a:schemeClr val="bg1"/>
                          </a:solidFill>
                          <a:latin typeface="Malgun Gothic" pitchFamily="34" charset="0"/>
                          <a:ea typeface="Malgun Gothic" pitchFamily="34" charset="-122"/>
                          <a:cs typeface="Malgun Gothic" pitchFamily="34" charset="-120"/>
                        </a:rPr>
                        <a:t>카메라</a:t>
                      </a:r>
                      <a:endParaRPr lang="en-US" sz="1300" dirty="0">
                        <a:latin typeface="Malgun Gothic" charset="0"/>
                        <a:ea typeface="Malgun Gothic" charset="0"/>
                        <a:cs typeface="Malgun Gothic" charset="0"/>
                      </a:endParaRPr>
                    </a:p>
                  </a:txBody>
                  <a:tcPr marL="91440" marR="91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indent="0" marL="0">
                        <a:buNone/>
                      </a:pPr>
                      <a:r>
                        <a:rPr lang="en-US" sz="1300" dirty="0">
                          <a:solidFill>
                            <a:schemeClr val="bg1"/>
                          </a:solidFill>
                          <a:latin typeface="Malgun Gothic" pitchFamily="34" charset="0"/>
                          <a:ea typeface="Malgun Gothic" pitchFamily="34" charset="-122"/>
                          <a:cs typeface="Malgun Gothic" pitchFamily="34" charset="-120"/>
                        </a:rPr>
                        <a:t>빛(영상)</a:t>
                      </a:r>
                      <a:endParaRPr lang="en-US" sz="1300" dirty="0">
                        <a:latin typeface="Malgun Gothic" charset="0"/>
                        <a:ea typeface="Malgun Gothic" charset="0"/>
                        <a:cs typeface="Malgun Gothic" charset="0"/>
                      </a:endParaRPr>
                    </a:p>
                  </a:txBody>
                  <a:tcPr marL="91440" marR="91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indent="0" marL="0">
                        <a:buNone/>
                      </a:pPr>
                      <a:r>
                        <a:rPr lang="en-US" sz="1300" dirty="0">
                          <a:solidFill>
                            <a:schemeClr val="bg1"/>
                          </a:solidFill>
                          <a:latin typeface="Malgun Gothic" pitchFamily="34" charset="0"/>
                          <a:ea typeface="Malgun Gothic" pitchFamily="34" charset="-122"/>
                          <a:cs typeface="Malgun Gothic" pitchFamily="34" charset="-120"/>
                        </a:rPr>
                        <a:t>신호등·표지판 구별</a:t>
                      </a:r>
                      <a:endParaRPr lang="en-US" sz="1300" dirty="0">
                        <a:latin typeface="Malgun Gothic" charset="0"/>
                        <a:ea typeface="Malgun Gothic" charset="0"/>
                        <a:cs typeface="Malgun Gothic" charset="0"/>
                      </a:endParaRPr>
                    </a:p>
                  </a:txBody>
                  <a:tcPr marL="91440" marR="91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indent="0" marL="0">
                        <a:buNone/>
                      </a:pPr>
                      <a:r>
                        <a:rPr lang="en-US" sz="1300" dirty="0">
                          <a:solidFill>
                            <a:schemeClr val="bg1"/>
                          </a:solidFill>
                          <a:latin typeface="Malgun Gothic" pitchFamily="34" charset="0"/>
                          <a:ea typeface="Malgun Gothic" pitchFamily="34" charset="-122"/>
                          <a:cs typeface="Malgun Gothic" pitchFamily="34" charset="-120"/>
                        </a:rPr>
                        <a:t>어둠·역광에 약함</a:t>
                      </a:r>
                      <a:endParaRPr lang="en-US" sz="1300" dirty="0">
                        <a:latin typeface="Malgun Gothic" charset="0"/>
                        <a:ea typeface="Malgun Gothic" charset="0"/>
                        <a:cs typeface="Malgun Gothic" charset="0"/>
                      </a:endParaRPr>
                    </a:p>
                  </a:txBody>
                  <a:tcPr marL="91440" marR="91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r>
              <a:tr h="457200">
                <a:tc>
                  <a:txBody>
                    <a:bodyPr/>
                    <a:lstStyle/>
                    <a:p>
                      <a:pPr indent="0" marL="0">
                        <a:buNone/>
                      </a:pPr>
                      <a:r>
                        <a:rPr lang="en-US" sz="1300" b="1" dirty="0">
                          <a:solidFill>
                            <a:schemeClr val="bg1"/>
                          </a:solidFill>
                          <a:latin typeface="Malgun Gothic" pitchFamily="34" charset="0"/>
                          <a:ea typeface="Malgun Gothic" pitchFamily="34" charset="-122"/>
                          <a:cs typeface="Malgun Gothic" pitchFamily="34" charset="-120"/>
                        </a:rPr>
                        <a:t>레이더</a:t>
                      </a:r>
                      <a:endParaRPr lang="en-US" sz="1300" dirty="0">
                        <a:latin typeface="Malgun Gothic" charset="0"/>
                        <a:ea typeface="Malgun Gothic" charset="0"/>
                        <a:cs typeface="Malgun Gothic" charset="0"/>
                      </a:endParaRPr>
                    </a:p>
                  </a:txBody>
                  <a:tcPr marL="91440" marR="91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indent="0" marL="0">
                        <a:buNone/>
                      </a:pPr>
                      <a:r>
                        <a:rPr lang="en-US" sz="1300" dirty="0">
                          <a:solidFill>
                            <a:schemeClr val="bg1"/>
                          </a:solidFill>
                          <a:latin typeface="Malgun Gothic" pitchFamily="34" charset="0"/>
                          <a:ea typeface="Malgun Gothic" pitchFamily="34" charset="-122"/>
                          <a:cs typeface="Malgun Gothic" pitchFamily="34" charset="-120"/>
                        </a:rPr>
                        <a:t>전파</a:t>
                      </a:r>
                      <a:endParaRPr lang="en-US" sz="1300" dirty="0">
                        <a:latin typeface="Malgun Gothic" charset="0"/>
                        <a:ea typeface="Malgun Gothic" charset="0"/>
                        <a:cs typeface="Malgun Gothic" charset="0"/>
                      </a:endParaRPr>
                    </a:p>
                  </a:txBody>
                  <a:tcPr marL="91440" marR="91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indent="0" marL="0">
                        <a:buNone/>
                      </a:pPr>
                      <a:r>
                        <a:rPr lang="en-US" sz="1300" dirty="0">
                          <a:solidFill>
                            <a:schemeClr val="bg1"/>
                          </a:solidFill>
                          <a:latin typeface="Malgun Gothic" pitchFamily="34" charset="0"/>
                          <a:ea typeface="Malgun Gothic" pitchFamily="34" charset="-122"/>
                          <a:cs typeface="Malgun Gothic" pitchFamily="34" charset="-120"/>
                        </a:rPr>
                        <a:t>거리·속도, 날씨에 강함</a:t>
                      </a:r>
                      <a:endParaRPr lang="en-US" sz="1300" dirty="0">
                        <a:latin typeface="Malgun Gothic" charset="0"/>
                        <a:ea typeface="Malgun Gothic" charset="0"/>
                        <a:cs typeface="Malgun Gothic" charset="0"/>
                      </a:endParaRPr>
                    </a:p>
                  </a:txBody>
                  <a:tcPr marL="91440" marR="91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indent="0" marL="0">
                        <a:buNone/>
                      </a:pPr>
                      <a:r>
                        <a:rPr lang="en-US" sz="1300" dirty="0">
                          <a:solidFill>
                            <a:schemeClr val="bg1"/>
                          </a:solidFill>
                          <a:latin typeface="Malgun Gothic" pitchFamily="34" charset="0"/>
                          <a:ea typeface="Malgun Gothic" pitchFamily="34" charset="-122"/>
                          <a:cs typeface="Malgun Gothic" pitchFamily="34" charset="-120"/>
                        </a:rPr>
                        <a:t>해상도 낮음</a:t>
                      </a:r>
                      <a:endParaRPr lang="en-US" sz="1300" dirty="0">
                        <a:latin typeface="Malgun Gothic" charset="0"/>
                        <a:ea typeface="Malgun Gothic" charset="0"/>
                        <a:cs typeface="Malgun Gothic" charset="0"/>
                      </a:endParaRPr>
                    </a:p>
                  </a:txBody>
                  <a:tcPr marL="91440" marR="91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r>
              <a:tr h="457200">
                <a:tc>
                  <a:txBody>
                    <a:bodyPr/>
                    <a:lstStyle/>
                    <a:p>
                      <a:pPr indent="0" marL="0">
                        <a:buNone/>
                      </a:pPr>
                      <a:r>
                        <a:rPr lang="en-US" sz="1300" b="1" dirty="0">
                          <a:solidFill>
                            <a:schemeClr val="bg1"/>
                          </a:solidFill>
                          <a:latin typeface="Malgun Gothic" pitchFamily="34" charset="0"/>
                          <a:ea typeface="Malgun Gothic" pitchFamily="34" charset="-122"/>
                          <a:cs typeface="Malgun Gothic" pitchFamily="34" charset="-120"/>
                        </a:rPr>
                        <a:t>라이다</a:t>
                      </a:r>
                      <a:endParaRPr lang="en-US" sz="1300" dirty="0">
                        <a:latin typeface="Malgun Gothic" charset="0"/>
                        <a:ea typeface="Malgun Gothic" charset="0"/>
                        <a:cs typeface="Malgun Gothic" charset="0"/>
                      </a:endParaRPr>
                    </a:p>
                  </a:txBody>
                  <a:tcPr marL="91440" marR="91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indent="0" marL="0">
                        <a:buNone/>
                      </a:pPr>
                      <a:r>
                        <a:rPr lang="en-US" sz="1300" dirty="0">
                          <a:solidFill>
                            <a:schemeClr val="bg1"/>
                          </a:solidFill>
                          <a:latin typeface="Malgun Gothic" pitchFamily="34" charset="0"/>
                          <a:ea typeface="Malgun Gothic" pitchFamily="34" charset="-122"/>
                          <a:cs typeface="Malgun Gothic" pitchFamily="34" charset="-120"/>
                        </a:rPr>
                        <a:t>레이저 펄스</a:t>
                      </a:r>
                      <a:endParaRPr lang="en-US" sz="1300" dirty="0">
                        <a:latin typeface="Malgun Gothic" charset="0"/>
                        <a:ea typeface="Malgun Gothic" charset="0"/>
                        <a:cs typeface="Malgun Gothic" charset="0"/>
                      </a:endParaRPr>
                    </a:p>
                  </a:txBody>
                  <a:tcPr marL="91440" marR="91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indent="0" marL="0">
                        <a:buNone/>
                      </a:pPr>
                      <a:r>
                        <a:rPr lang="en-US" sz="1300" dirty="0">
                          <a:solidFill>
                            <a:schemeClr val="bg1"/>
                          </a:solidFill>
                          <a:latin typeface="Malgun Gothic" pitchFamily="34" charset="0"/>
                          <a:ea typeface="Malgun Gothic" pitchFamily="34" charset="-122"/>
                          <a:cs typeface="Malgun Gothic" pitchFamily="34" charset="-120"/>
                        </a:rPr>
                        <a:t>정밀한 3차원 지도</a:t>
                      </a:r>
                      <a:endParaRPr lang="en-US" sz="1300" dirty="0">
                        <a:latin typeface="Malgun Gothic" charset="0"/>
                        <a:ea typeface="Malgun Gothic" charset="0"/>
                        <a:cs typeface="Malgun Gothic" charset="0"/>
                      </a:endParaRPr>
                    </a:p>
                  </a:txBody>
                  <a:tcPr marL="91440" marR="91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indent="0" marL="0">
                        <a:buNone/>
                      </a:pPr>
                      <a:r>
                        <a:rPr lang="en-US" sz="1300" dirty="0">
                          <a:solidFill>
                            <a:schemeClr val="bg1"/>
                          </a:solidFill>
                          <a:latin typeface="Malgun Gothic" pitchFamily="34" charset="0"/>
                          <a:ea typeface="Malgun Gothic" pitchFamily="34" charset="-122"/>
                          <a:cs typeface="Malgun Gothic" pitchFamily="34" charset="-120"/>
                        </a:rPr>
                        <a:t>비용, 안개·폭우에 약함</a:t>
                      </a:r>
                      <a:endParaRPr lang="en-US" sz="1300" dirty="0">
                        <a:latin typeface="Malgun Gothic" charset="0"/>
                        <a:ea typeface="Malgun Gothic" charset="0"/>
                        <a:cs typeface="Malgun Gothic" charset="0"/>
                      </a:endParaRPr>
                    </a:p>
                  </a:txBody>
                  <a:tcPr marL="91440" marR="91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r>
            </a:tbl>
          </a:graphicData>
        </a:graphic>
      </p:graphicFrame>
      <p:sp>
        <p:nvSpPr>
          <p:cNvPr id="14" name="Text 10"/>
          <p:cNvSpPr txBox="1"/>
          <p:nvPr/>
        </p:nvSpPr>
        <p:spPr>
          <a:xfrm>
            <a:off x="457200" y="4160520"/>
            <a:ext cx="8229600" cy="457200"/>
          </a:xfrm>
          <a:prstGeom prst="rect">
            <a:avLst/>
          </a:prstGeom>
          <a:noFill/>
          <a:ln/>
        </p:spPr>
        <p:txBody>
          <a:bodyPr wrap="square" lIns="0" tIns="0" rIns="0" bIns="0" rtlCol="0" anchor="t"/>
          <a:lstStyle/>
          <a:p>
            <a:pPr indent="0" marL="0">
              <a:buNone/>
            </a:pPr>
            <a:r>
              <a:rPr lang="en-US" sz="1400" b="1" dirty="0">
                <a:solidFill>
                  <a:schemeClr val="accent4"/>
                </a:solidFill>
                <a:latin typeface="Malgun Gothic" pitchFamily="34" charset="0"/>
                <a:ea typeface="Malgun Gothic" pitchFamily="34" charset="-122"/>
                <a:cs typeface="Malgun Gothic" pitchFamily="34" charset="-120"/>
              </a:rPr>
              <a:t>센서 융합  </a:t>
            </a:r>
            <a:pPr indent="0" marL="0">
              <a:buNone/>
            </a:pPr>
            <a:r>
              <a:rPr lang="en-US" sz="1400" dirty="0">
                <a:solidFill>
                  <a:schemeClr val="bg1"/>
                </a:solidFill>
                <a:latin typeface="Malgun Gothic" pitchFamily="34" charset="0"/>
                <a:ea typeface="Malgun Gothic" pitchFamily="34" charset="-122"/>
                <a:cs typeface="Malgun Gothic" pitchFamily="34" charset="-120"/>
              </a:rPr>
              <a:t>서로의 약점을 보완하려고 여러 센서를 함께 쓴다.  자율주행은 Level 0~5로 구분한다.</a:t>
            </a:r>
            <a:endParaRPr lang="en-US" sz="14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2800" b="1" dirty="0">
                <a:solidFill>
                  <a:schemeClr val="bg1"/>
                </a:solidFill>
              </a:rPr>
              <a:t>원리 ③ 감염병은 검사와 데이터로 진단·예측한다</a:t>
            </a:r>
            <a:endParaRPr lang="en-US" sz="2800" dirty="0"/>
          </a:p>
        </p:txBody>
      </p:sp>
      <p:sp>
        <p:nvSpPr>
          <p:cNvPr id="4" name="Text 1"/>
          <p:cNvSpPr txBox="1"/>
          <p:nvPr/>
        </p:nvSpPr>
        <p:spPr>
          <a:xfrm>
            <a:off x="457200" y="1097280"/>
            <a:ext cx="5486400" cy="274320"/>
          </a:xfrm>
          <a:prstGeom prst="rect">
            <a:avLst/>
          </a:prstGeom>
          <a:noFill/>
          <a:ln/>
        </p:spPr>
        <p:txBody>
          <a:bodyPr wrap="square" lIns="0" tIns="0" rIns="0" bIns="0" rtlCol="0" anchor="t"/>
          <a:lstStyle/>
          <a:p>
            <a:pPr indent="0" marL="0">
              <a:buNone/>
            </a:pPr>
            <a:r>
              <a:rPr lang="en-US" sz="1200" b="1" dirty="0">
                <a:solidFill>
                  <a:schemeClr val="accent1"/>
                </a:solidFill>
                <a:latin typeface="Malgun Gothic" pitchFamily="34" charset="0"/>
                <a:ea typeface="Malgun Gothic" pitchFamily="34" charset="-122"/>
                <a:cs typeface="Malgun Gothic" pitchFamily="34" charset="-120"/>
              </a:rPr>
              <a:t>교과서 개념: 감염병의 진단과 예방</a:t>
            </a:r>
            <a:endParaRPr lang="en-US" sz="1200" dirty="0"/>
          </a:p>
        </p:txBody>
      </p:sp>
      <p:sp>
        <p:nvSpPr>
          <p:cNvPr id="5" name="card-test1"/>
          <p:cNvSpPr/>
          <p:nvPr/>
        </p:nvSpPr>
        <p:spPr>
          <a:xfrm>
            <a:off x="457200" y="1417320"/>
            <a:ext cx="4023360" cy="2011680"/>
          </a:xfrm>
          <a:prstGeom prst="roundRect">
            <a:avLst>
              <a:gd name="adj" fmla="val 5455"/>
            </a:avLst>
          </a:prstGeom>
          <a:solidFill>
            <a:schemeClr val="tx2"/>
          </a:solidFill>
          <a:ln w="12700">
            <a:solidFill>
              <a:schemeClr val="tx2"/>
            </a:solidFill>
            <a:prstDash val="solid"/>
          </a:ln>
        </p:spPr>
      </p:sp>
      <p:sp>
        <p:nvSpPr>
          <p:cNvPr id="6" name="Text 3"/>
          <p:cNvSpPr txBox="1"/>
          <p:nvPr/>
        </p:nvSpPr>
        <p:spPr>
          <a:xfrm>
            <a:off x="685800" y="1554480"/>
            <a:ext cx="3566160" cy="365760"/>
          </a:xfrm>
          <a:prstGeom prst="rect">
            <a:avLst/>
          </a:prstGeom>
          <a:noFill/>
          <a:ln/>
        </p:spPr>
        <p:txBody>
          <a:bodyPr wrap="square" lIns="0" tIns="0" rIns="0" bIns="0" rtlCol="0" anchor="t"/>
          <a:lstStyle/>
          <a:p>
            <a:pPr indent="0" marL="0">
              <a:buNone/>
            </a:pPr>
            <a:r>
              <a:rPr lang="en-US" sz="1800" b="1" dirty="0">
                <a:solidFill>
                  <a:schemeClr val="accent2"/>
                </a:solidFill>
                <a:latin typeface="Malgun Gothic" pitchFamily="34" charset="0"/>
                <a:ea typeface="Malgun Gothic" pitchFamily="34" charset="-122"/>
                <a:cs typeface="Malgun Gothic" pitchFamily="34" charset="-120"/>
              </a:rPr>
              <a:t>PCR 검사</a:t>
            </a:r>
            <a:endParaRPr lang="en-US" sz="1800" dirty="0"/>
          </a:p>
        </p:txBody>
      </p:sp>
      <p:sp>
        <p:nvSpPr>
          <p:cNvPr id="7" name="Text 4"/>
          <p:cNvSpPr txBox="1"/>
          <p:nvPr/>
        </p:nvSpPr>
        <p:spPr>
          <a:xfrm>
            <a:off x="685800" y="1920240"/>
            <a:ext cx="3566160" cy="274320"/>
          </a:xfrm>
          <a:prstGeom prst="rect">
            <a:avLst/>
          </a:prstGeom>
          <a:noFill/>
          <a:ln/>
        </p:spPr>
        <p:txBody>
          <a:bodyPr wrap="square" lIns="0" tIns="0" rIns="0" bIns="0" rtlCol="0" anchor="t"/>
          <a:lstStyle/>
          <a:p>
            <a:pPr indent="0" marL="0">
              <a:buNone/>
            </a:pPr>
            <a:r>
              <a:rPr lang="en-US" sz="1300" dirty="0">
                <a:solidFill>
                  <a:schemeClr val="accent6"/>
                </a:solidFill>
                <a:latin typeface="Malgun Gothic" pitchFamily="34" charset="0"/>
                <a:ea typeface="Malgun Gothic" pitchFamily="34" charset="-122"/>
                <a:cs typeface="Malgun Gothic" pitchFamily="34" charset="-120"/>
              </a:rPr>
              <a:t>유전물질을 증폭해 검출</a:t>
            </a:r>
            <a:endParaRPr lang="en-US" sz="1300" dirty="0"/>
          </a:p>
        </p:txBody>
      </p:sp>
      <p:sp>
        <p:nvSpPr>
          <p:cNvPr id="8" name="Text 5"/>
          <p:cNvSpPr txBox="1"/>
          <p:nvPr/>
        </p:nvSpPr>
        <p:spPr>
          <a:xfrm>
            <a:off x="685800" y="2286000"/>
            <a:ext cx="3566160" cy="10515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bg1"/>
                </a:solidFill>
                <a:latin typeface="Malgun Gothic" pitchFamily="34" charset="0"/>
                <a:ea typeface="Malgun Gothic" pitchFamily="34" charset="-122"/>
                <a:cs typeface="Malgun Gothic" pitchFamily="34" charset="-120"/>
              </a:rPr>
              <a:t>온도 변화를 반복해 DNA를 복제</a:t>
            </a:r>
            <a:endParaRPr lang="en-US" sz="1400" dirty="0"/>
          </a:p>
          <a:p>
            <a:pPr marL="342900" indent="-342900">
              <a:spcAft>
                <a:spcPts val="400"/>
              </a:spcAft>
              <a:buSzPct val="100000"/>
              <a:buChar char="•"/>
            </a:pPr>
            <a:r>
              <a:rPr lang="en-US" sz="1400" dirty="0">
                <a:solidFill>
                  <a:schemeClr val="bg1"/>
                </a:solidFill>
                <a:latin typeface="Malgun Gothic" pitchFamily="34" charset="0"/>
                <a:ea typeface="Malgun Gothic" pitchFamily="34" charset="-122"/>
                <a:cs typeface="Malgun Gothic" pitchFamily="34" charset="-120"/>
              </a:rPr>
              <a:t>정확도가 높음</a:t>
            </a:r>
            <a:endParaRPr lang="en-US" sz="1400" dirty="0"/>
          </a:p>
          <a:p>
            <a:pPr marL="342900" indent="-342900">
              <a:spcAft>
                <a:spcPts val="400"/>
              </a:spcAft>
              <a:buSzPct val="100000"/>
              <a:buChar char="•"/>
            </a:pPr>
            <a:r>
              <a:rPr lang="en-US" sz="1400" dirty="0">
                <a:solidFill>
                  <a:schemeClr val="bg1"/>
                </a:solidFill>
                <a:latin typeface="Malgun Gothic" pitchFamily="34" charset="0"/>
                <a:ea typeface="Malgun Gothic" pitchFamily="34" charset="-122"/>
                <a:cs typeface="Malgun Gothic" pitchFamily="34" charset="-120"/>
              </a:rPr>
              <a:t>결과까지 시간이 걸리고 장비 필요</a:t>
            </a:r>
            <a:endParaRPr lang="en-US" sz="1400" dirty="0"/>
          </a:p>
        </p:txBody>
      </p:sp>
      <p:sp>
        <p:nvSpPr>
          <p:cNvPr id="9" name="card-test2"/>
          <p:cNvSpPr/>
          <p:nvPr/>
        </p:nvSpPr>
        <p:spPr>
          <a:xfrm>
            <a:off x="4663440" y="1417320"/>
            <a:ext cx="4023360" cy="2011680"/>
          </a:xfrm>
          <a:prstGeom prst="roundRect">
            <a:avLst>
              <a:gd name="adj" fmla="val 5455"/>
            </a:avLst>
          </a:prstGeom>
          <a:solidFill>
            <a:schemeClr val="tx2"/>
          </a:solidFill>
          <a:ln w="12700">
            <a:solidFill>
              <a:schemeClr val="tx2"/>
            </a:solidFill>
            <a:prstDash val="solid"/>
          </a:ln>
        </p:spPr>
      </p:sp>
      <p:sp>
        <p:nvSpPr>
          <p:cNvPr id="10" name="Text 7"/>
          <p:cNvSpPr txBox="1"/>
          <p:nvPr/>
        </p:nvSpPr>
        <p:spPr>
          <a:xfrm>
            <a:off x="4892040" y="1554480"/>
            <a:ext cx="3566160" cy="365760"/>
          </a:xfrm>
          <a:prstGeom prst="rect">
            <a:avLst/>
          </a:prstGeom>
          <a:noFill/>
          <a:ln/>
        </p:spPr>
        <p:txBody>
          <a:bodyPr wrap="square" lIns="0" tIns="0" rIns="0" bIns="0" rtlCol="0" anchor="t"/>
          <a:lstStyle/>
          <a:p>
            <a:pPr indent="0" marL="0">
              <a:buNone/>
            </a:pPr>
            <a:r>
              <a:rPr lang="en-US" sz="1800" b="1" dirty="0">
                <a:solidFill>
                  <a:schemeClr val="accent4"/>
                </a:solidFill>
                <a:latin typeface="Malgun Gothic" pitchFamily="34" charset="0"/>
                <a:ea typeface="Malgun Gothic" pitchFamily="34" charset="-122"/>
                <a:cs typeface="Malgun Gothic" pitchFamily="34" charset="-120"/>
              </a:rPr>
              <a:t>항원 검사</a:t>
            </a:r>
            <a:endParaRPr lang="en-US" sz="1800" dirty="0"/>
          </a:p>
        </p:txBody>
      </p:sp>
      <p:sp>
        <p:nvSpPr>
          <p:cNvPr id="11" name="Text 8"/>
          <p:cNvSpPr txBox="1"/>
          <p:nvPr/>
        </p:nvSpPr>
        <p:spPr>
          <a:xfrm>
            <a:off x="4892040" y="1920240"/>
            <a:ext cx="3566160" cy="274320"/>
          </a:xfrm>
          <a:prstGeom prst="rect">
            <a:avLst/>
          </a:prstGeom>
          <a:noFill/>
          <a:ln/>
        </p:spPr>
        <p:txBody>
          <a:bodyPr wrap="square" lIns="0" tIns="0" rIns="0" bIns="0" rtlCol="0" anchor="t"/>
          <a:lstStyle/>
          <a:p>
            <a:pPr indent="0" marL="0">
              <a:buNone/>
            </a:pPr>
            <a:r>
              <a:rPr lang="en-US" sz="1300" dirty="0">
                <a:solidFill>
                  <a:schemeClr val="accent6"/>
                </a:solidFill>
                <a:latin typeface="Malgun Gothic" pitchFamily="34" charset="0"/>
                <a:ea typeface="Malgun Gothic" pitchFamily="34" charset="-122"/>
                <a:cs typeface="Malgun Gothic" pitchFamily="34" charset="-120"/>
              </a:rPr>
              <a:t>병원체 단백질을 항체로 검출</a:t>
            </a:r>
            <a:endParaRPr lang="en-US" sz="1300" dirty="0"/>
          </a:p>
        </p:txBody>
      </p:sp>
      <p:sp>
        <p:nvSpPr>
          <p:cNvPr id="12" name="Text 9"/>
          <p:cNvSpPr txBox="1"/>
          <p:nvPr/>
        </p:nvSpPr>
        <p:spPr>
          <a:xfrm>
            <a:off x="4892040" y="2286000"/>
            <a:ext cx="3566160" cy="10515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bg1"/>
                </a:solidFill>
                <a:latin typeface="Malgun Gothic" pitchFamily="34" charset="0"/>
                <a:ea typeface="Malgun Gothic" pitchFamily="34" charset="-122"/>
                <a:cs typeface="Malgun Gothic" pitchFamily="34" charset="-120"/>
              </a:rPr>
              <a:t>항원-항체 결합 반응을 이용</a:t>
            </a:r>
            <a:endParaRPr lang="en-US" sz="1400" dirty="0"/>
          </a:p>
          <a:p>
            <a:pPr marL="342900" indent="-342900">
              <a:spcAft>
                <a:spcPts val="400"/>
              </a:spcAft>
              <a:buSzPct val="100000"/>
              <a:buChar char="•"/>
            </a:pPr>
            <a:r>
              <a:rPr lang="en-US" sz="1400" dirty="0">
                <a:solidFill>
                  <a:schemeClr val="bg1"/>
                </a:solidFill>
                <a:latin typeface="Malgun Gothic" pitchFamily="34" charset="0"/>
                <a:ea typeface="Malgun Gothic" pitchFamily="34" charset="-122"/>
                <a:cs typeface="Malgun Gothic" pitchFamily="34" charset="-120"/>
              </a:rPr>
              <a:t>15~30분 안에 결과 확인</a:t>
            </a:r>
            <a:endParaRPr lang="en-US" sz="1400" dirty="0"/>
          </a:p>
          <a:p>
            <a:pPr marL="342900" indent="-342900">
              <a:spcAft>
                <a:spcPts val="400"/>
              </a:spcAft>
              <a:buSzPct val="100000"/>
              <a:buChar char="•"/>
            </a:pPr>
            <a:r>
              <a:rPr lang="en-US" sz="1400" dirty="0">
                <a:solidFill>
                  <a:schemeClr val="bg1"/>
                </a:solidFill>
                <a:latin typeface="Malgun Gothic" pitchFamily="34" charset="0"/>
                <a:ea typeface="Malgun Gothic" pitchFamily="34" charset="-122"/>
                <a:cs typeface="Malgun Gothic" pitchFamily="34" charset="-120"/>
              </a:rPr>
              <a:t>바이러스가 적으면 놓칠 수 있음</a:t>
            </a:r>
            <a:endParaRPr lang="en-US" sz="1400" dirty="0"/>
          </a:p>
        </p:txBody>
      </p:sp>
      <p:sp>
        <p:nvSpPr>
          <p:cNvPr id="13" name="Text 10"/>
          <p:cNvSpPr txBox="1"/>
          <p:nvPr/>
        </p:nvSpPr>
        <p:spPr>
          <a:xfrm>
            <a:off x="457200" y="3611880"/>
            <a:ext cx="2743200" cy="274320"/>
          </a:xfrm>
          <a:prstGeom prst="rect">
            <a:avLst/>
          </a:prstGeom>
          <a:noFill/>
          <a:ln/>
        </p:spPr>
        <p:txBody>
          <a:bodyPr wrap="square" lIns="0" tIns="0" rIns="0" bIns="0" rtlCol="0" anchor="t"/>
          <a:lstStyle/>
          <a:p>
            <a:pPr indent="0" marL="0">
              <a:buNone/>
            </a:pPr>
            <a:r>
              <a:rPr lang="en-US" sz="1400" b="1" dirty="0">
                <a:solidFill>
                  <a:schemeClr val="accent1"/>
                </a:solidFill>
                <a:latin typeface="Malgun Gothic" pitchFamily="34" charset="0"/>
                <a:ea typeface="Malgun Gothic" pitchFamily="34" charset="-122"/>
                <a:cs typeface="Malgun Gothic" pitchFamily="34" charset="-120"/>
              </a:rPr>
              <a:t>데이터 기반 예방</a:t>
            </a:r>
            <a:endParaRPr lang="en-US" sz="1400" dirty="0"/>
          </a:p>
        </p:txBody>
      </p:sp>
      <p:sp>
        <p:nvSpPr>
          <p:cNvPr id="14" name="data-flow1"/>
          <p:cNvSpPr/>
          <p:nvPr/>
        </p:nvSpPr>
        <p:spPr>
          <a:xfrm>
            <a:off x="457200" y="3931920"/>
            <a:ext cx="2651760" cy="502920"/>
          </a:xfrm>
          <a:prstGeom prst="roundRect">
            <a:avLst>
              <a:gd name="adj" fmla="val 21818"/>
            </a:avLst>
          </a:prstGeom>
          <a:solidFill>
            <a:schemeClr val="accent3"/>
          </a:solidFill>
          <a:ln w="12700">
            <a:solidFill>
              <a:schemeClr val="accent3"/>
            </a:solidFill>
            <a:prstDash val="solid"/>
          </a:ln>
        </p:spPr>
      </p:sp>
      <p:sp>
        <p:nvSpPr>
          <p:cNvPr id="15" name="Text 12"/>
          <p:cNvSpPr txBox="1"/>
          <p:nvPr/>
        </p:nvSpPr>
        <p:spPr>
          <a:xfrm>
            <a:off x="457200" y="3931920"/>
            <a:ext cx="2651760" cy="502920"/>
          </a:xfrm>
          <a:prstGeom prst="rect">
            <a:avLst/>
          </a:prstGeom>
          <a:noFill/>
          <a:ln/>
        </p:spPr>
        <p:txBody>
          <a:bodyPr wrap="square" lIns="0" tIns="0" rIns="0" bIns="0" rtlCol="0" anchor="ctr"/>
          <a:lstStyle/>
          <a:p>
            <a:pPr algn="ctr" indent="0" marL="0">
              <a:buNone/>
            </a:pPr>
            <a:r>
              <a:rPr lang="en-US" sz="1400" b="1" dirty="0">
                <a:solidFill>
                  <a:schemeClr val="bg1"/>
                </a:solidFill>
                <a:latin typeface="Malgun Gothic" pitchFamily="34" charset="0"/>
                <a:ea typeface="Malgun Gothic" pitchFamily="34" charset="-122"/>
                <a:cs typeface="Malgun Gothic" pitchFamily="34" charset="-120"/>
              </a:rPr>
              <a:t>확진·이동·접촉 데이터</a:t>
            </a:r>
            <a:endParaRPr lang="en-US" sz="1400" dirty="0"/>
          </a:p>
        </p:txBody>
      </p:sp>
      <p:sp>
        <p:nvSpPr>
          <p:cNvPr id="16" name="arrow"/>
          <p:cNvSpPr/>
          <p:nvPr/>
        </p:nvSpPr>
        <p:spPr>
          <a:xfrm>
            <a:off x="3200400" y="4069080"/>
            <a:ext cx="411480" cy="228600"/>
          </a:xfrm>
          <a:prstGeom prst="rightArrow">
            <a:avLst/>
          </a:prstGeom>
          <a:solidFill>
            <a:schemeClr val="accent1"/>
          </a:solidFill>
          <a:ln w="12700">
            <a:solidFill>
              <a:schemeClr val="accent1"/>
            </a:solidFill>
            <a:prstDash val="solid"/>
          </a:ln>
        </p:spPr>
      </p:sp>
      <p:sp>
        <p:nvSpPr>
          <p:cNvPr id="17" name="data-flow2"/>
          <p:cNvSpPr/>
          <p:nvPr/>
        </p:nvSpPr>
        <p:spPr>
          <a:xfrm>
            <a:off x="3703320" y="3931920"/>
            <a:ext cx="1737360" cy="502920"/>
          </a:xfrm>
          <a:prstGeom prst="roundRect">
            <a:avLst>
              <a:gd name="adj" fmla="val 21818"/>
            </a:avLst>
          </a:prstGeom>
          <a:solidFill>
            <a:schemeClr val="accent3"/>
          </a:solidFill>
          <a:ln w="12700">
            <a:solidFill>
              <a:schemeClr val="accent3"/>
            </a:solidFill>
            <a:prstDash val="solid"/>
          </a:ln>
        </p:spPr>
      </p:sp>
      <p:sp>
        <p:nvSpPr>
          <p:cNvPr id="18" name="Text 15"/>
          <p:cNvSpPr txBox="1"/>
          <p:nvPr/>
        </p:nvSpPr>
        <p:spPr>
          <a:xfrm>
            <a:off x="3703320" y="3931920"/>
            <a:ext cx="1737360" cy="502920"/>
          </a:xfrm>
          <a:prstGeom prst="rect">
            <a:avLst/>
          </a:prstGeom>
          <a:noFill/>
          <a:ln/>
        </p:spPr>
        <p:txBody>
          <a:bodyPr wrap="square" lIns="0" tIns="0" rIns="0" bIns="0" rtlCol="0" anchor="ctr"/>
          <a:lstStyle/>
          <a:p>
            <a:pPr algn="ctr" indent="0" marL="0">
              <a:buNone/>
            </a:pPr>
            <a:r>
              <a:rPr lang="en-US" sz="1400" b="1" dirty="0">
                <a:solidFill>
                  <a:schemeClr val="bg1"/>
                </a:solidFill>
                <a:latin typeface="Malgun Gothic" pitchFamily="34" charset="0"/>
                <a:ea typeface="Malgun Gothic" pitchFamily="34" charset="-122"/>
                <a:cs typeface="Malgun Gothic" pitchFamily="34" charset="-120"/>
              </a:rPr>
              <a:t>예측 모델</a:t>
            </a:r>
            <a:endParaRPr lang="en-US" sz="1400" dirty="0"/>
          </a:p>
        </p:txBody>
      </p:sp>
      <p:sp>
        <p:nvSpPr>
          <p:cNvPr id="19" name="arrow"/>
          <p:cNvSpPr/>
          <p:nvPr/>
        </p:nvSpPr>
        <p:spPr>
          <a:xfrm>
            <a:off x="5532120" y="4069080"/>
            <a:ext cx="411480" cy="228600"/>
          </a:xfrm>
          <a:prstGeom prst="rightArrow">
            <a:avLst/>
          </a:prstGeom>
          <a:solidFill>
            <a:schemeClr val="accent1"/>
          </a:solidFill>
          <a:ln w="12700">
            <a:solidFill>
              <a:schemeClr val="accent1"/>
            </a:solidFill>
            <a:prstDash val="solid"/>
          </a:ln>
        </p:spPr>
      </p:sp>
      <p:sp>
        <p:nvSpPr>
          <p:cNvPr id="20" name="data-flow3"/>
          <p:cNvSpPr/>
          <p:nvPr/>
        </p:nvSpPr>
        <p:spPr>
          <a:xfrm>
            <a:off x="6035040" y="3931920"/>
            <a:ext cx="2468880" cy="502920"/>
          </a:xfrm>
          <a:prstGeom prst="roundRect">
            <a:avLst>
              <a:gd name="adj" fmla="val 21818"/>
            </a:avLst>
          </a:prstGeom>
          <a:solidFill>
            <a:schemeClr val="accent3"/>
          </a:solidFill>
          <a:ln w="12700">
            <a:solidFill>
              <a:schemeClr val="accent3"/>
            </a:solidFill>
            <a:prstDash val="solid"/>
          </a:ln>
        </p:spPr>
      </p:sp>
      <p:sp>
        <p:nvSpPr>
          <p:cNvPr id="21" name="Text 18"/>
          <p:cNvSpPr txBox="1"/>
          <p:nvPr/>
        </p:nvSpPr>
        <p:spPr>
          <a:xfrm>
            <a:off x="6035040" y="3931920"/>
            <a:ext cx="2468880" cy="502920"/>
          </a:xfrm>
          <a:prstGeom prst="rect">
            <a:avLst/>
          </a:prstGeom>
          <a:noFill/>
          <a:ln/>
        </p:spPr>
        <p:txBody>
          <a:bodyPr wrap="square" lIns="0" tIns="0" rIns="0" bIns="0" rtlCol="0" anchor="ctr"/>
          <a:lstStyle/>
          <a:p>
            <a:pPr algn="ctr" indent="0" marL="0">
              <a:buNone/>
            </a:pPr>
            <a:r>
              <a:rPr lang="en-US" sz="1400" b="1" dirty="0">
                <a:solidFill>
                  <a:schemeClr val="bg1"/>
                </a:solidFill>
                <a:latin typeface="Malgun Gothic" pitchFamily="34" charset="0"/>
                <a:ea typeface="Malgun Gothic" pitchFamily="34" charset="-122"/>
                <a:cs typeface="Malgun Gothic" pitchFamily="34" charset="-120"/>
              </a:rPr>
              <a:t>확산 추세 · 방역 결정</a:t>
            </a:r>
            <a:endParaRPr lang="en-US" sz="14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2800" b="1" dirty="0">
                <a:solidFill>
                  <a:schemeClr val="bg1"/>
                </a:solidFill>
              </a:rPr>
              <a:t>기술의 원리와 한계, 그리고 윤리</a:t>
            </a:r>
            <a:endParaRPr lang="en-US" sz="2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2103120"/>
                <a:gridCol w="2286000"/>
                <a:gridCol w="2011680"/>
                <a:gridCol w="1828800"/>
              </a:tblGrid>
              <a:tr h="457200">
                <a:tc>
                  <a:txBody>
                    <a:bodyPr/>
                    <a:lstStyle/>
                    <a:p>
                      <a:pPr algn="ctr" indent="0" marL="0">
                        <a:buNone/>
                      </a:pPr>
                      <a:r>
                        <a:rPr lang="en-US" sz="1400" b="1" dirty="0">
                          <a:solidFill>
                            <a:schemeClr val="tx1"/>
                          </a:solidFill>
                          <a:latin typeface="Malgun Gothic" pitchFamily="34" charset="0"/>
                          <a:ea typeface="Malgun Gothic" pitchFamily="34" charset="-122"/>
                          <a:cs typeface="Malgun Gothic" pitchFamily="34" charset="-120"/>
                        </a:rPr>
                        <a:t>소단원</a:t>
                      </a:r>
                      <a:endParaRPr lang="en-US" sz="1400" dirty="0">
                        <a:latin typeface="Malgun Gothic" charset="0"/>
                        <a:ea typeface="Malgun Gothic" charset="0"/>
                        <a:cs typeface="Malgun Gothic" charset="0"/>
                      </a:endParaRPr>
                    </a:p>
                  </a:txBody>
                  <a:tcPr marL="91440" marR="91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tx1"/>
                          </a:solidFill>
                          <a:latin typeface="Malgun Gothic" pitchFamily="34" charset="0"/>
                          <a:ea typeface="Malgun Gothic" pitchFamily="34" charset="-122"/>
                          <a:cs typeface="Malgun Gothic" pitchFamily="34" charset="-120"/>
                        </a:rPr>
                        <a:t>핵심 원리</a:t>
                      </a:r>
                      <a:endParaRPr lang="en-US" sz="1400" dirty="0">
                        <a:latin typeface="Malgun Gothic" charset="0"/>
                        <a:ea typeface="Malgun Gothic" charset="0"/>
                        <a:cs typeface="Malgun Gothic" charset="0"/>
                      </a:endParaRPr>
                    </a:p>
                  </a:txBody>
                  <a:tcPr marL="91440" marR="91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tx1"/>
                          </a:solidFill>
                          <a:latin typeface="Malgun Gothic" pitchFamily="34" charset="0"/>
                          <a:ea typeface="Malgun Gothic" pitchFamily="34" charset="-122"/>
                          <a:cs typeface="Malgun Gothic" pitchFamily="34" charset="-120"/>
                        </a:rPr>
                        <a:t>한계</a:t>
                      </a:r>
                      <a:endParaRPr lang="en-US" sz="1400" dirty="0">
                        <a:latin typeface="Malgun Gothic" charset="0"/>
                        <a:ea typeface="Malgun Gothic" charset="0"/>
                        <a:cs typeface="Malgun Gothic" charset="0"/>
                      </a:endParaRPr>
                    </a:p>
                  </a:txBody>
                  <a:tcPr marL="91440" marR="91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indent="0" marL="0">
                        <a:buNone/>
                      </a:pPr>
                      <a:r>
                        <a:rPr lang="en-US" sz="1400" b="1" dirty="0">
                          <a:solidFill>
                            <a:schemeClr val="tx1"/>
                          </a:solidFill>
                          <a:latin typeface="Malgun Gothic" pitchFamily="34" charset="0"/>
                          <a:ea typeface="Malgun Gothic" pitchFamily="34" charset="-122"/>
                          <a:cs typeface="Malgun Gothic" pitchFamily="34" charset="-120"/>
                        </a:rPr>
                        <a:t>윤리적 쟁점</a:t>
                      </a:r>
                      <a:endParaRPr lang="en-US" sz="1400" dirty="0">
                        <a:latin typeface="Malgun Gothic" charset="0"/>
                        <a:ea typeface="Malgun Gothic" charset="0"/>
                        <a:cs typeface="Malgun Gothic" charset="0"/>
                      </a:endParaRPr>
                    </a:p>
                  </a:txBody>
                  <a:tcPr marL="91440" marR="91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r>
              <a:tr h="777240">
                <a:tc>
                  <a:txBody>
                    <a:bodyPr/>
                    <a:lstStyle/>
                    <a:p>
                      <a:pPr indent="0" marL="0">
                        <a:buNone/>
                      </a:pPr>
                      <a:r>
                        <a:rPr lang="en-US" sz="1300" b="1" dirty="0">
                          <a:solidFill>
                            <a:schemeClr val="bg1"/>
                          </a:solidFill>
                          <a:latin typeface="Malgun Gothic" pitchFamily="34" charset="0"/>
                          <a:ea typeface="Malgun Gothic" pitchFamily="34" charset="-122"/>
                          <a:cs typeface="Malgun Gothic" pitchFamily="34" charset="-120"/>
                        </a:rPr>
                        <a:t>인공지능과 빅데이터</a:t>
                      </a:r>
                      <a:endParaRPr lang="en-US" sz="1300" dirty="0">
                        <a:latin typeface="Malgun Gothic" charset="0"/>
                        <a:ea typeface="Malgun Gothic" charset="0"/>
                        <a:cs typeface="Malgun Gothic" charset="0"/>
                      </a:endParaRPr>
                    </a:p>
                  </a:txBody>
                  <a:tcPr marL="91440" marR="91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indent="0" marL="0">
                        <a:buNone/>
                      </a:pPr>
                      <a:r>
                        <a:rPr lang="en-US" sz="1300" dirty="0">
                          <a:solidFill>
                            <a:schemeClr val="bg1"/>
                          </a:solidFill>
                          <a:latin typeface="Malgun Gothic" pitchFamily="34" charset="0"/>
                          <a:ea typeface="Malgun Gothic" pitchFamily="34" charset="-122"/>
                          <a:cs typeface="Malgun Gothic" pitchFamily="34" charset="-120"/>
                        </a:rPr>
                        <a:t>데이터로 패턴 학습</a:t>
                      </a:r>
                      <a:endParaRPr lang="en-US" sz="1300" dirty="0">
                        <a:latin typeface="Malgun Gothic" charset="0"/>
                        <a:ea typeface="Malgun Gothic" charset="0"/>
                        <a:cs typeface="Malgun Gothic" charset="0"/>
                      </a:endParaRPr>
                    </a:p>
                    <a:p>
                      <a:pPr indent="0" marL="0">
                        <a:buNone/>
                      </a:pPr>
                      <a:r>
                        <a:rPr lang="en-US" sz="1300" dirty="0">
                          <a:solidFill>
                            <a:schemeClr val="bg1"/>
                          </a:solidFill>
                          <a:latin typeface="Malgun Gothic" pitchFamily="34" charset="0"/>
                          <a:ea typeface="Malgun Gothic" pitchFamily="34" charset="-122"/>
                          <a:cs typeface="Malgun Gothic" pitchFamily="34" charset="-120"/>
                        </a:rPr>
                        <a:t>(오차 줄이기)</a:t>
                      </a:r>
                      <a:endParaRPr lang="en-US" sz="1300" dirty="0">
                        <a:latin typeface="Malgun Gothic" charset="0"/>
                        <a:ea typeface="Malgun Gothic" charset="0"/>
                        <a:cs typeface="Malgun Gothic" charset="0"/>
                      </a:endParaRPr>
                    </a:p>
                  </a:txBody>
                  <a:tcPr marL="91440" marR="91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indent="0" marL="0">
                        <a:buNone/>
                      </a:pPr>
                      <a:r>
                        <a:rPr lang="en-US" sz="1300" dirty="0">
                          <a:solidFill>
                            <a:schemeClr val="bg1"/>
                          </a:solidFill>
                          <a:latin typeface="Malgun Gothic" pitchFamily="34" charset="0"/>
                          <a:ea typeface="Malgun Gothic" pitchFamily="34" charset="-122"/>
                          <a:cs typeface="Malgun Gothic" pitchFamily="34" charset="-120"/>
                        </a:rPr>
                        <a:t>데이터가 편향되면</a:t>
                      </a:r>
                      <a:endParaRPr lang="en-US" sz="1300" dirty="0">
                        <a:latin typeface="Malgun Gothic" charset="0"/>
                        <a:ea typeface="Malgun Gothic" charset="0"/>
                        <a:cs typeface="Malgun Gothic" charset="0"/>
                      </a:endParaRPr>
                    </a:p>
                    <a:p>
                      <a:pPr indent="0" marL="0">
                        <a:buNone/>
                      </a:pPr>
                      <a:r>
                        <a:rPr lang="en-US" sz="1300" dirty="0">
                          <a:solidFill>
                            <a:schemeClr val="bg1"/>
                          </a:solidFill>
                          <a:latin typeface="Malgun Gothic" pitchFamily="34" charset="0"/>
                          <a:ea typeface="Malgun Gothic" pitchFamily="34" charset="-122"/>
                          <a:cs typeface="Malgun Gothic" pitchFamily="34" charset="-120"/>
                        </a:rPr>
                        <a:t>결과도 편향</a:t>
                      </a:r>
                      <a:endParaRPr lang="en-US" sz="1300" dirty="0">
                        <a:latin typeface="Malgun Gothic" charset="0"/>
                        <a:ea typeface="Malgun Gothic" charset="0"/>
                        <a:cs typeface="Malgun Gothic" charset="0"/>
                      </a:endParaRPr>
                    </a:p>
                  </a:txBody>
                  <a:tcPr marL="91440" marR="91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indent="0" marL="0">
                        <a:buNone/>
                      </a:pPr>
                      <a:r>
                        <a:rPr lang="en-US" sz="1300" dirty="0">
                          <a:solidFill>
                            <a:schemeClr val="bg1"/>
                          </a:solidFill>
                          <a:latin typeface="Malgun Gothic" pitchFamily="34" charset="0"/>
                          <a:ea typeface="Malgun Gothic" pitchFamily="34" charset="-122"/>
                          <a:cs typeface="Malgun Gothic" pitchFamily="34" charset="-120"/>
                        </a:rPr>
                        <a:t>차별, 개인정보,</a:t>
                      </a:r>
                      <a:endParaRPr lang="en-US" sz="1300" dirty="0">
                        <a:latin typeface="Malgun Gothic" charset="0"/>
                        <a:ea typeface="Malgun Gothic" charset="0"/>
                        <a:cs typeface="Malgun Gothic" charset="0"/>
                      </a:endParaRPr>
                    </a:p>
                    <a:p>
                      <a:pPr indent="0" marL="0">
                        <a:buNone/>
                      </a:pPr>
                      <a:r>
                        <a:rPr lang="en-US" sz="1300" dirty="0">
                          <a:solidFill>
                            <a:schemeClr val="bg1"/>
                          </a:solidFill>
                          <a:latin typeface="Malgun Gothic" pitchFamily="34" charset="0"/>
                          <a:ea typeface="Malgun Gothic" pitchFamily="34" charset="-122"/>
                          <a:cs typeface="Malgun Gothic" pitchFamily="34" charset="-120"/>
                        </a:rPr>
                        <a:t>책임 소재</a:t>
                      </a:r>
                      <a:endParaRPr lang="en-US" sz="1300" dirty="0">
                        <a:latin typeface="Malgun Gothic" charset="0"/>
                        <a:ea typeface="Malgun Gothic" charset="0"/>
                        <a:cs typeface="Malgun Gothic" charset="0"/>
                      </a:endParaRPr>
                    </a:p>
                  </a:txBody>
                  <a:tcPr marL="91440" marR="91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r>
              <a:tr h="777240">
                <a:tc>
                  <a:txBody>
                    <a:bodyPr/>
                    <a:lstStyle/>
                    <a:p>
                      <a:pPr indent="0" marL="0">
                        <a:buNone/>
                      </a:pPr>
                      <a:r>
                        <a:rPr lang="en-US" sz="1300" b="1" dirty="0">
                          <a:solidFill>
                            <a:schemeClr val="bg1"/>
                          </a:solidFill>
                          <a:latin typeface="Malgun Gothic" pitchFamily="34" charset="0"/>
                          <a:ea typeface="Malgun Gothic" pitchFamily="34" charset="-122"/>
                          <a:cs typeface="Malgun Gothic" pitchFamily="34" charset="-120"/>
                        </a:rPr>
                        <a:t>센서와 자율 시스템</a:t>
                      </a:r>
                      <a:endParaRPr lang="en-US" sz="1300" dirty="0">
                        <a:latin typeface="Malgun Gothic" charset="0"/>
                        <a:ea typeface="Malgun Gothic" charset="0"/>
                        <a:cs typeface="Malgun Gothic" charset="0"/>
                      </a:endParaRPr>
                    </a:p>
                  </a:txBody>
                  <a:tcPr marL="91440" marR="91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indent="0" marL="0">
                        <a:buNone/>
                      </a:pPr>
                      <a:r>
                        <a:rPr lang="en-US" sz="1300" dirty="0">
                          <a:solidFill>
                            <a:schemeClr val="bg1"/>
                          </a:solidFill>
                          <a:latin typeface="Malgun Gothic" pitchFamily="34" charset="0"/>
                          <a:ea typeface="Malgun Gothic" pitchFamily="34" charset="-122"/>
                          <a:cs typeface="Malgun Gothic" pitchFamily="34" charset="-120"/>
                        </a:rPr>
                        <a:t>센서 수집 → 판단 → 제어</a:t>
                      </a:r>
                      <a:endParaRPr lang="en-US" sz="1300" dirty="0">
                        <a:latin typeface="Malgun Gothic" charset="0"/>
                        <a:ea typeface="Malgun Gothic" charset="0"/>
                        <a:cs typeface="Malgun Gothic" charset="0"/>
                      </a:endParaRPr>
                    </a:p>
                  </a:txBody>
                  <a:tcPr marL="91440" marR="91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indent="0" marL="0">
                        <a:buNone/>
                      </a:pPr>
                      <a:r>
                        <a:rPr lang="en-US" sz="1300" dirty="0">
                          <a:solidFill>
                            <a:schemeClr val="bg1"/>
                          </a:solidFill>
                          <a:latin typeface="Malgun Gothic" pitchFamily="34" charset="0"/>
                          <a:ea typeface="Malgun Gothic" pitchFamily="34" charset="-122"/>
                          <a:cs typeface="Malgun Gothic" pitchFamily="34" charset="-120"/>
                        </a:rPr>
                        <a:t>센서마다 약점이 있어</a:t>
                      </a:r>
                      <a:endParaRPr lang="en-US" sz="1300" dirty="0">
                        <a:latin typeface="Malgun Gothic" charset="0"/>
                        <a:ea typeface="Malgun Gothic" charset="0"/>
                        <a:cs typeface="Malgun Gothic" charset="0"/>
                      </a:endParaRPr>
                    </a:p>
                    <a:p>
                      <a:pPr indent="0" marL="0">
                        <a:buNone/>
                      </a:pPr>
                      <a:r>
                        <a:rPr lang="en-US" sz="1300" dirty="0">
                          <a:solidFill>
                            <a:schemeClr val="bg1"/>
                          </a:solidFill>
                          <a:latin typeface="Malgun Gothic" pitchFamily="34" charset="0"/>
                          <a:ea typeface="Malgun Gothic" pitchFamily="34" charset="-122"/>
                          <a:cs typeface="Malgun Gothic" pitchFamily="34" charset="-120"/>
                        </a:rPr>
                        <a:t>융합 필요</a:t>
                      </a:r>
                      <a:endParaRPr lang="en-US" sz="1300" dirty="0">
                        <a:latin typeface="Malgun Gothic" charset="0"/>
                        <a:ea typeface="Malgun Gothic" charset="0"/>
                        <a:cs typeface="Malgun Gothic" charset="0"/>
                      </a:endParaRPr>
                    </a:p>
                  </a:txBody>
                  <a:tcPr marL="91440" marR="91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indent="0" marL="0">
                        <a:buNone/>
                      </a:pPr>
                      <a:r>
                        <a:rPr lang="en-US" sz="1300" dirty="0">
                          <a:solidFill>
                            <a:schemeClr val="bg1"/>
                          </a:solidFill>
                          <a:latin typeface="Malgun Gothic" pitchFamily="34" charset="0"/>
                          <a:ea typeface="Malgun Gothic" pitchFamily="34" charset="-122"/>
                          <a:cs typeface="Malgun Gothic" pitchFamily="34" charset="-120"/>
                        </a:rPr>
                        <a:t>사고가 났을 때</a:t>
                      </a:r>
                      <a:endParaRPr lang="en-US" sz="1300" dirty="0">
                        <a:latin typeface="Malgun Gothic" charset="0"/>
                        <a:ea typeface="Malgun Gothic" charset="0"/>
                        <a:cs typeface="Malgun Gothic" charset="0"/>
                      </a:endParaRPr>
                    </a:p>
                    <a:p>
                      <a:pPr indent="0" marL="0">
                        <a:buNone/>
                      </a:pPr>
                      <a:r>
                        <a:rPr lang="en-US" sz="1300" dirty="0">
                          <a:solidFill>
                            <a:schemeClr val="bg1"/>
                          </a:solidFill>
                          <a:latin typeface="Malgun Gothic" pitchFamily="34" charset="0"/>
                          <a:ea typeface="Malgun Gothic" pitchFamily="34" charset="-122"/>
                          <a:cs typeface="Malgun Gothic" pitchFamily="34" charset="-120"/>
                        </a:rPr>
                        <a:t>책임은 누구에게?</a:t>
                      </a:r>
                      <a:endParaRPr lang="en-US" sz="1300" dirty="0">
                        <a:latin typeface="Malgun Gothic" charset="0"/>
                        <a:ea typeface="Malgun Gothic" charset="0"/>
                        <a:cs typeface="Malgun Gothic" charset="0"/>
                      </a:endParaRPr>
                    </a:p>
                  </a:txBody>
                  <a:tcPr marL="91440" marR="91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r>
              <a:tr h="777240">
                <a:tc>
                  <a:txBody>
                    <a:bodyPr/>
                    <a:lstStyle/>
                    <a:p>
                      <a:pPr indent="0" marL="0">
                        <a:buNone/>
                      </a:pPr>
                      <a:r>
                        <a:rPr lang="en-US" sz="1300" b="1" dirty="0">
                          <a:solidFill>
                            <a:schemeClr val="bg1"/>
                          </a:solidFill>
                          <a:latin typeface="Malgun Gothic" pitchFamily="34" charset="0"/>
                          <a:ea typeface="Malgun Gothic" pitchFamily="34" charset="-122"/>
                          <a:cs typeface="Malgun Gothic" pitchFamily="34" charset="-120"/>
                        </a:rPr>
                        <a:t>감염병 진단과 예방</a:t>
                      </a:r>
                      <a:endParaRPr lang="en-US" sz="1300" dirty="0">
                        <a:latin typeface="Malgun Gothic" charset="0"/>
                        <a:ea typeface="Malgun Gothic" charset="0"/>
                        <a:cs typeface="Malgun Gothic" charset="0"/>
                      </a:endParaRPr>
                    </a:p>
                  </a:txBody>
                  <a:tcPr marL="91440" marR="91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indent="0" marL="0">
                        <a:buNone/>
                      </a:pPr>
                      <a:r>
                        <a:rPr lang="en-US" sz="1300" dirty="0">
                          <a:solidFill>
                            <a:schemeClr val="bg1"/>
                          </a:solidFill>
                          <a:latin typeface="Malgun Gothic" pitchFamily="34" charset="0"/>
                          <a:ea typeface="Malgun Gothic" pitchFamily="34" charset="-122"/>
                          <a:cs typeface="Malgun Gothic" pitchFamily="34" charset="-120"/>
                        </a:rPr>
                        <a:t>검사 반응 + 데이터 예측</a:t>
                      </a:r>
                      <a:endParaRPr lang="en-US" sz="1300" dirty="0">
                        <a:latin typeface="Malgun Gothic" charset="0"/>
                        <a:ea typeface="Malgun Gothic" charset="0"/>
                        <a:cs typeface="Malgun Gothic" charset="0"/>
                      </a:endParaRPr>
                    </a:p>
                  </a:txBody>
                  <a:tcPr marL="91440" marR="91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indent="0" marL="0">
                        <a:buNone/>
                      </a:pPr>
                      <a:r>
                        <a:rPr lang="en-US" sz="1300" dirty="0">
                          <a:solidFill>
                            <a:schemeClr val="bg1"/>
                          </a:solidFill>
                          <a:latin typeface="Malgun Gothic" pitchFamily="34" charset="0"/>
                          <a:ea typeface="Malgun Gothic" pitchFamily="34" charset="-122"/>
                          <a:cs typeface="Malgun Gothic" pitchFamily="34" charset="-120"/>
                        </a:rPr>
                        <a:t>검사마다 정확도·</a:t>
                      </a:r>
                      <a:endParaRPr lang="en-US" sz="1300" dirty="0">
                        <a:latin typeface="Malgun Gothic" charset="0"/>
                        <a:ea typeface="Malgun Gothic" charset="0"/>
                        <a:cs typeface="Malgun Gothic" charset="0"/>
                      </a:endParaRPr>
                    </a:p>
                    <a:p>
                      <a:pPr indent="0" marL="0">
                        <a:buNone/>
                      </a:pPr>
                      <a:r>
                        <a:rPr lang="en-US" sz="1300" dirty="0">
                          <a:solidFill>
                            <a:schemeClr val="bg1"/>
                          </a:solidFill>
                          <a:latin typeface="Malgun Gothic" pitchFamily="34" charset="0"/>
                          <a:ea typeface="Malgun Gothic" pitchFamily="34" charset="-122"/>
                          <a:cs typeface="Malgun Gothic" pitchFamily="34" charset="-120"/>
                        </a:rPr>
                        <a:t>속도가 다름</a:t>
                      </a:r>
                      <a:endParaRPr lang="en-US" sz="1300" dirty="0">
                        <a:latin typeface="Malgun Gothic" charset="0"/>
                        <a:ea typeface="Malgun Gothic" charset="0"/>
                        <a:cs typeface="Malgun Gothic" charset="0"/>
                      </a:endParaRPr>
                    </a:p>
                  </a:txBody>
                  <a:tcPr marL="91440" marR="91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indent="0" marL="0">
                        <a:buNone/>
                      </a:pPr>
                      <a:r>
                        <a:rPr lang="en-US" sz="1300" dirty="0">
                          <a:solidFill>
                            <a:schemeClr val="bg1"/>
                          </a:solidFill>
                          <a:latin typeface="Malgun Gothic" pitchFamily="34" charset="0"/>
                          <a:ea typeface="Malgun Gothic" pitchFamily="34" charset="-122"/>
                          <a:cs typeface="Malgun Gothic" pitchFamily="34" charset="-120"/>
                        </a:rPr>
                        <a:t>방역과 개인정보</a:t>
                      </a:r>
                      <a:endParaRPr lang="en-US" sz="1300" dirty="0">
                        <a:latin typeface="Malgun Gothic" charset="0"/>
                        <a:ea typeface="Malgun Gothic" charset="0"/>
                        <a:cs typeface="Malgun Gothic" charset="0"/>
                      </a:endParaRPr>
                    </a:p>
                    <a:p>
                      <a:pPr indent="0" marL="0">
                        <a:buNone/>
                      </a:pPr>
                      <a:r>
                        <a:rPr lang="en-US" sz="1300" dirty="0">
                          <a:solidFill>
                            <a:schemeClr val="bg1"/>
                          </a:solidFill>
                          <a:latin typeface="Malgun Gothic" pitchFamily="34" charset="0"/>
                          <a:ea typeface="Malgun Gothic" pitchFamily="34" charset="-122"/>
                          <a:cs typeface="Malgun Gothic" pitchFamily="34" charset="-120"/>
                        </a:rPr>
                        <a:t>보호의 균형</a:t>
                      </a:r>
                      <a:endParaRPr lang="en-US" sz="1300" dirty="0">
                        <a:latin typeface="Malgun Gothic" charset="0"/>
                        <a:ea typeface="Malgun Gothic" charset="0"/>
                        <a:cs typeface="Malgun Gothic" charset="0"/>
                      </a:endParaRPr>
                    </a:p>
                  </a:txBody>
                  <a:tcPr marL="91440" marR="9144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r>
            </a:tbl>
          </a:graphicData>
        </a:graphic>
      </p:graphicFrame>
      <p:sp>
        <p:nvSpPr>
          <p:cNvPr id="5" name="Text 1"/>
          <p:cNvSpPr txBox="1"/>
          <p:nvPr/>
        </p:nvSpPr>
        <p:spPr>
          <a:xfrm>
            <a:off x="457200" y="4206240"/>
            <a:ext cx="8229600" cy="365760"/>
          </a:xfrm>
          <a:prstGeom prst="rect">
            <a:avLst/>
          </a:prstGeom>
          <a:noFill/>
          <a:ln/>
        </p:spPr>
        <p:txBody>
          <a:bodyPr wrap="square" lIns="0" tIns="0" rIns="0" bIns="0" rtlCol="0" anchor="t"/>
          <a:lstStyle/>
          <a:p>
            <a:pPr indent="0" marL="0">
              <a:buNone/>
            </a:pPr>
            <a:r>
              <a:rPr lang="en-US" sz="1600" b="1" dirty="0">
                <a:solidFill>
                  <a:schemeClr val="accent4"/>
                </a:solidFill>
                <a:latin typeface="Malgun Gothic" pitchFamily="34" charset="0"/>
                <a:ea typeface="Malgun Gothic" pitchFamily="34" charset="-122"/>
                <a:cs typeface="Malgun Gothic" pitchFamily="34" charset="-120"/>
              </a:rPr>
              <a:t>기술 자체는 중립이고, 어떻게 쓸지는 사람이 정한다.</a:t>
            </a:r>
            <a:endParaRPr lang="en-US" sz="16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2800" b="1" dirty="0">
                <a:solidFill>
                  <a:schemeClr val="bg1"/>
                </a:solidFill>
              </a:rPr>
              <a:t>새롭게 알게 된 점과 추천 이유</a:t>
            </a:r>
            <a:endParaRPr lang="en-US" sz="2800" dirty="0"/>
          </a:p>
        </p:txBody>
      </p:sp>
      <p:sp>
        <p:nvSpPr>
          <p:cNvPr id="4" name="card-learned"/>
          <p:cNvSpPr/>
          <p:nvPr/>
        </p:nvSpPr>
        <p:spPr>
          <a:xfrm>
            <a:off x="457200" y="1280160"/>
            <a:ext cx="4023360" cy="3108960"/>
          </a:xfrm>
          <a:prstGeom prst="roundRect">
            <a:avLst>
              <a:gd name="adj" fmla="val 3529"/>
            </a:avLst>
          </a:prstGeom>
          <a:solidFill>
            <a:schemeClr val="tx2"/>
          </a:solidFill>
          <a:ln w="12700">
            <a:solidFill>
              <a:schemeClr val="tx2"/>
            </a:solidFill>
            <a:prstDash val="solid"/>
          </a:ln>
        </p:spPr>
      </p:sp>
      <p:sp>
        <p:nvSpPr>
          <p:cNvPr id="5" name="Text 2"/>
          <p:cNvSpPr txBox="1"/>
          <p:nvPr/>
        </p:nvSpPr>
        <p:spPr>
          <a:xfrm>
            <a:off x="685800" y="1417320"/>
            <a:ext cx="3566160" cy="365760"/>
          </a:xfrm>
          <a:prstGeom prst="rect">
            <a:avLst/>
          </a:prstGeom>
          <a:noFill/>
          <a:ln/>
        </p:spPr>
        <p:txBody>
          <a:bodyPr wrap="square" lIns="0" tIns="0" rIns="0" bIns="0" rtlCol="0" anchor="t"/>
          <a:lstStyle/>
          <a:p>
            <a:pPr indent="0" marL="0">
              <a:buNone/>
            </a:pPr>
            <a:r>
              <a:rPr lang="en-US" sz="1800" b="1" dirty="0">
                <a:solidFill>
                  <a:schemeClr val="accent1"/>
                </a:solidFill>
                <a:latin typeface="Malgun Gothic" pitchFamily="34" charset="0"/>
                <a:ea typeface="Malgun Gothic" pitchFamily="34" charset="-122"/>
                <a:cs typeface="Malgun Gothic" pitchFamily="34" charset="-120"/>
              </a:rPr>
              <a:t>새롭게 알게 된 점</a:t>
            </a:r>
            <a:endParaRPr lang="en-US" sz="1800" dirty="0"/>
          </a:p>
        </p:txBody>
      </p:sp>
      <p:sp>
        <p:nvSpPr>
          <p:cNvPr id="6" name="Text 3"/>
          <p:cNvSpPr txBox="1"/>
          <p:nvPr/>
        </p:nvSpPr>
        <p:spPr>
          <a:xfrm>
            <a:off x="685800" y="1920240"/>
            <a:ext cx="3566160" cy="2377440"/>
          </a:xfrm>
          <a:prstGeom prst="rect">
            <a:avLst/>
          </a:prstGeom>
          <a:noFill/>
          <a:ln/>
        </p:spPr>
        <p:txBody>
          <a:bodyPr wrap="square" lIns="0" tIns="0" rIns="0" bIns="0" rtlCol="0" anchor="t"/>
          <a:lstStyle/>
          <a:p>
            <a:pPr indent="0" marL="0">
              <a:spcAft>
                <a:spcPts val="1000"/>
              </a:spcAft>
              <a:buNone/>
            </a:pPr>
            <a:r>
              <a:rPr lang="en-US" sz="1400" dirty="0">
                <a:solidFill>
                  <a:schemeClr val="bg1"/>
                </a:solidFill>
                <a:latin typeface="Malgun Gothic" pitchFamily="34" charset="0"/>
                <a:ea typeface="Malgun Gothic" pitchFamily="34" charset="-122"/>
                <a:cs typeface="Malgun Gothic" pitchFamily="34" charset="-120"/>
              </a:rPr>
              <a:t>AI는 '생각'하는 게 아니라 데이터 속 패턴을 찾는 것이라서, 데이터가 편향되면 결과도 편향된다.</a:t>
            </a:r>
            <a:endParaRPr lang="en-US" sz="1400" dirty="0"/>
          </a:p>
          <a:p>
            <a:pPr indent="0" marL="0">
              <a:buNone/>
            </a:pPr>
            <a:r>
              <a:rPr lang="en-US" sz="1400" dirty="0">
                <a:solidFill>
                  <a:schemeClr val="bg1"/>
                </a:solidFill>
                <a:latin typeface="Malgun Gothic" pitchFamily="34" charset="0"/>
                <a:ea typeface="Malgun Gothic" pitchFamily="34" charset="-122"/>
                <a:cs typeface="Malgun Gothic" pitchFamily="34" charset="-120"/>
              </a:rPr>
              <a:t>소설 속 기술의 상당수가 이미 개발되고 있다는 점이 놀라웠다.</a:t>
            </a:r>
            <a:endParaRPr lang="en-US" sz="1400" dirty="0"/>
          </a:p>
        </p:txBody>
      </p:sp>
      <p:sp>
        <p:nvSpPr>
          <p:cNvPr id="7" name="card-reco"/>
          <p:cNvSpPr/>
          <p:nvPr/>
        </p:nvSpPr>
        <p:spPr>
          <a:xfrm>
            <a:off x="4663440" y="1280160"/>
            <a:ext cx="4023360" cy="3108960"/>
          </a:xfrm>
          <a:prstGeom prst="roundRect">
            <a:avLst>
              <a:gd name="adj" fmla="val 3529"/>
            </a:avLst>
          </a:prstGeom>
          <a:solidFill>
            <a:schemeClr val="tx2"/>
          </a:solidFill>
          <a:ln w="12700">
            <a:solidFill>
              <a:schemeClr val="tx2"/>
            </a:solidFill>
            <a:prstDash val="solid"/>
          </a:ln>
        </p:spPr>
      </p:sp>
      <p:sp>
        <p:nvSpPr>
          <p:cNvPr id="8" name="Text 5"/>
          <p:cNvSpPr txBox="1"/>
          <p:nvPr/>
        </p:nvSpPr>
        <p:spPr>
          <a:xfrm>
            <a:off x="4892040" y="1417320"/>
            <a:ext cx="3566160" cy="365760"/>
          </a:xfrm>
          <a:prstGeom prst="rect">
            <a:avLst/>
          </a:prstGeom>
          <a:noFill/>
          <a:ln/>
        </p:spPr>
        <p:txBody>
          <a:bodyPr wrap="square" lIns="0" tIns="0" rIns="0" bIns="0" rtlCol="0" anchor="t"/>
          <a:lstStyle/>
          <a:p>
            <a:pPr indent="0" marL="0">
              <a:buNone/>
            </a:pPr>
            <a:r>
              <a:rPr lang="en-US" sz="1800" b="1" dirty="0">
                <a:solidFill>
                  <a:schemeClr val="accent1"/>
                </a:solidFill>
                <a:latin typeface="Malgun Gothic" pitchFamily="34" charset="0"/>
                <a:ea typeface="Malgun Gothic" pitchFamily="34" charset="-122"/>
                <a:cs typeface="Malgun Gothic" pitchFamily="34" charset="-120"/>
              </a:rPr>
              <a:t>친구들에게 추천하는 이유</a:t>
            </a:r>
            <a:endParaRPr lang="en-US" sz="1800" dirty="0"/>
          </a:p>
        </p:txBody>
      </p:sp>
      <p:sp>
        <p:nvSpPr>
          <p:cNvPr id="9" name="reco-badge1"/>
          <p:cNvSpPr/>
          <p:nvPr/>
        </p:nvSpPr>
        <p:spPr>
          <a:xfrm>
            <a:off x="4892040" y="1965960"/>
            <a:ext cx="384048" cy="384048"/>
          </a:xfrm>
          <a:prstGeom prst="ellipse">
            <a:avLst/>
          </a:prstGeom>
          <a:solidFill>
            <a:schemeClr val="accent4"/>
          </a:solidFill>
          <a:ln w="12700">
            <a:solidFill>
              <a:schemeClr val="accent4"/>
            </a:solidFill>
            <a:prstDash val="solid"/>
          </a:ln>
        </p:spPr>
      </p:sp>
      <p:sp>
        <p:nvSpPr>
          <p:cNvPr id="10" name="Text 7"/>
          <p:cNvSpPr txBox="1"/>
          <p:nvPr/>
        </p:nvSpPr>
        <p:spPr>
          <a:xfrm>
            <a:off x="4892040" y="1965960"/>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latin typeface="Malgun Gothic" pitchFamily="34" charset="0"/>
                <a:ea typeface="Malgun Gothic" pitchFamily="34" charset="-122"/>
                <a:cs typeface="Malgun Gothic" pitchFamily="34" charset="-120"/>
              </a:rPr>
              <a:t>1</a:t>
            </a:r>
            <a:endParaRPr lang="en-US" sz="1400" dirty="0"/>
          </a:p>
        </p:txBody>
      </p:sp>
      <p:sp>
        <p:nvSpPr>
          <p:cNvPr id="11" name="Text 8"/>
          <p:cNvSpPr txBox="1"/>
          <p:nvPr/>
        </p:nvSpPr>
        <p:spPr>
          <a:xfrm>
            <a:off x="5440680" y="1920240"/>
            <a:ext cx="3063240" cy="685800"/>
          </a:xfrm>
          <a:prstGeom prst="rect">
            <a:avLst/>
          </a:prstGeom>
          <a:noFill/>
          <a:ln/>
        </p:spPr>
        <p:txBody>
          <a:bodyPr wrap="square" lIns="0" tIns="0" rIns="0" bIns="0" rtlCol="0" anchor="ctr"/>
          <a:lstStyle/>
          <a:p>
            <a:pPr indent="0" marL="0">
              <a:buNone/>
            </a:pPr>
            <a:r>
              <a:rPr lang="en-US" sz="1400" dirty="0">
                <a:solidFill>
                  <a:schemeClr val="bg1"/>
                </a:solidFill>
                <a:latin typeface="Malgun Gothic" pitchFamily="34" charset="0"/>
                <a:ea typeface="Malgun Gothic" pitchFamily="34" charset="-122"/>
                <a:cs typeface="Malgun Gothic" pitchFamily="34" charset="-120"/>
              </a:rPr>
              <a:t>소설이라 재미있고, 해설로 진짜 과학까지 배운다</a:t>
            </a:r>
            <a:endParaRPr lang="en-US" sz="1400" dirty="0"/>
          </a:p>
        </p:txBody>
      </p:sp>
      <p:sp>
        <p:nvSpPr>
          <p:cNvPr id="12" name="reco-badge2"/>
          <p:cNvSpPr/>
          <p:nvPr/>
        </p:nvSpPr>
        <p:spPr>
          <a:xfrm>
            <a:off x="4892040" y="2743200"/>
            <a:ext cx="384048" cy="384048"/>
          </a:xfrm>
          <a:prstGeom prst="ellipse">
            <a:avLst/>
          </a:prstGeom>
          <a:solidFill>
            <a:schemeClr val="accent4"/>
          </a:solidFill>
          <a:ln w="12700">
            <a:solidFill>
              <a:schemeClr val="accent4"/>
            </a:solidFill>
            <a:prstDash val="solid"/>
          </a:ln>
        </p:spPr>
      </p:sp>
      <p:sp>
        <p:nvSpPr>
          <p:cNvPr id="13" name="Text 10"/>
          <p:cNvSpPr txBox="1"/>
          <p:nvPr/>
        </p:nvSpPr>
        <p:spPr>
          <a:xfrm>
            <a:off x="4892040" y="2743200"/>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latin typeface="Malgun Gothic" pitchFamily="34" charset="0"/>
                <a:ea typeface="Malgun Gothic" pitchFamily="34" charset="-122"/>
                <a:cs typeface="Malgun Gothic" pitchFamily="34" charset="-120"/>
              </a:rPr>
              <a:t>2</a:t>
            </a:r>
            <a:endParaRPr lang="en-US" sz="1400" dirty="0"/>
          </a:p>
        </p:txBody>
      </p:sp>
      <p:sp>
        <p:nvSpPr>
          <p:cNvPr id="14" name="Text 11"/>
          <p:cNvSpPr txBox="1"/>
          <p:nvPr/>
        </p:nvSpPr>
        <p:spPr>
          <a:xfrm>
            <a:off x="5440680" y="2697480"/>
            <a:ext cx="3063240" cy="685800"/>
          </a:xfrm>
          <a:prstGeom prst="rect">
            <a:avLst/>
          </a:prstGeom>
          <a:noFill/>
          <a:ln/>
        </p:spPr>
        <p:txBody>
          <a:bodyPr wrap="square" lIns="0" tIns="0" rIns="0" bIns="0" rtlCol="0" anchor="ctr"/>
          <a:lstStyle/>
          <a:p>
            <a:pPr indent="0" marL="0">
              <a:buNone/>
            </a:pPr>
            <a:r>
              <a:rPr lang="en-US" sz="1400" dirty="0">
                <a:solidFill>
                  <a:schemeClr val="bg1"/>
                </a:solidFill>
                <a:latin typeface="Malgun Gothic" pitchFamily="34" charset="0"/>
                <a:ea typeface="Malgun Gothic" pitchFamily="34" charset="-122"/>
                <a:cs typeface="Malgun Gothic" pitchFamily="34" charset="-120"/>
              </a:rPr>
              <a:t>통합과학2 Ⅲ단원을 미리 공부하는 효과</a:t>
            </a:r>
            <a:endParaRPr lang="en-US" sz="1400" dirty="0"/>
          </a:p>
        </p:txBody>
      </p:sp>
      <p:sp>
        <p:nvSpPr>
          <p:cNvPr id="15" name="reco-badge3"/>
          <p:cNvSpPr/>
          <p:nvPr/>
        </p:nvSpPr>
        <p:spPr>
          <a:xfrm>
            <a:off x="4892040" y="3520440"/>
            <a:ext cx="384048" cy="384048"/>
          </a:xfrm>
          <a:prstGeom prst="ellipse">
            <a:avLst/>
          </a:prstGeom>
          <a:solidFill>
            <a:schemeClr val="accent4"/>
          </a:solidFill>
          <a:ln w="12700">
            <a:solidFill>
              <a:schemeClr val="accent4"/>
            </a:solidFill>
            <a:prstDash val="solid"/>
          </a:ln>
        </p:spPr>
      </p:sp>
      <p:sp>
        <p:nvSpPr>
          <p:cNvPr id="16" name="Text 13"/>
          <p:cNvSpPr txBox="1"/>
          <p:nvPr/>
        </p:nvSpPr>
        <p:spPr>
          <a:xfrm>
            <a:off x="4892040" y="3520440"/>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latin typeface="Malgun Gothic" pitchFamily="34" charset="0"/>
                <a:ea typeface="Malgun Gothic" pitchFamily="34" charset="-122"/>
                <a:cs typeface="Malgun Gothic" pitchFamily="34" charset="-120"/>
              </a:rPr>
              <a:t>3</a:t>
            </a:r>
            <a:endParaRPr lang="en-US" sz="1400" dirty="0"/>
          </a:p>
        </p:txBody>
      </p:sp>
      <p:sp>
        <p:nvSpPr>
          <p:cNvPr id="17" name="Text 14"/>
          <p:cNvSpPr txBox="1"/>
          <p:nvPr/>
        </p:nvSpPr>
        <p:spPr>
          <a:xfrm>
            <a:off x="5440680" y="3474720"/>
            <a:ext cx="3063240" cy="685800"/>
          </a:xfrm>
          <a:prstGeom prst="rect">
            <a:avLst/>
          </a:prstGeom>
          <a:noFill/>
          <a:ln/>
        </p:spPr>
        <p:txBody>
          <a:bodyPr wrap="square" lIns="0" tIns="0" rIns="0" bIns="0" rtlCol="0" anchor="ctr"/>
          <a:lstStyle/>
          <a:p>
            <a:pPr indent="0" marL="0">
              <a:buNone/>
            </a:pPr>
            <a:r>
              <a:rPr lang="en-US" sz="1400" dirty="0">
                <a:solidFill>
                  <a:schemeClr val="bg1"/>
                </a:solidFill>
                <a:latin typeface="Malgun Gothic" pitchFamily="34" charset="0"/>
                <a:ea typeface="Malgun Gothic" pitchFamily="34" charset="-122"/>
                <a:cs typeface="Malgun Gothic" pitchFamily="34" charset="-120"/>
              </a:rPr>
              <a:t>AI 시대에 꼭 고민할 윤리 문제를 던져 준다</a:t>
            </a:r>
            <a:endParaRPr lang="en-US" sz="14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640080" y="1371600"/>
            <a:ext cx="7863840" cy="1463040"/>
          </a:xfrm>
          <a:prstGeom prst="rect">
            <a:avLst/>
          </a:prstGeom>
          <a:noFill/>
          <a:ln/>
        </p:spPr>
        <p:txBody>
          <a:bodyPr wrap="square" lIns="0" tIns="0" rIns="0" bIns="0" rtlCol="0" anchor="t"/>
          <a:lstStyle/>
          <a:p>
            <a:pPr algn="l" indent="0" marL="0">
              <a:buNone/>
            </a:pPr>
            <a:r>
              <a:rPr lang="en-US" sz="4000" b="1" dirty="0">
                <a:solidFill>
                  <a:schemeClr val="bg1"/>
                </a:solidFill>
              </a:rPr>
              <a:t>2041년의 주인공은</a:t>
            </a:r>
            <a:endParaRPr lang="en-US" sz="4000" dirty="0"/>
          </a:p>
          <a:p>
            <a:pPr algn="l" indent="0" marL="0">
              <a:buNone/>
            </a:pPr>
            <a:r>
              <a:rPr lang="en-US" sz="4000" b="1" dirty="0">
                <a:solidFill>
                  <a:schemeClr val="bg1"/>
                </a:solidFill>
              </a:rPr>
              <a:t>AI가 아니라 우리입니다</a:t>
            </a:r>
            <a:endParaRPr lang="en-US" sz="4000" dirty="0"/>
          </a:p>
        </p:txBody>
      </p:sp>
      <p:sp>
        <p:nvSpPr>
          <p:cNvPr id="3" name="Text 1"/>
          <p:cNvSpPr txBox="1"/>
          <p:nvPr/>
        </p:nvSpPr>
        <p:spPr>
          <a:xfrm>
            <a:off x="640080" y="3200400"/>
            <a:ext cx="7863840" cy="457200"/>
          </a:xfrm>
          <a:prstGeom prst="rect">
            <a:avLst/>
          </a:prstGeom>
          <a:noFill/>
          <a:ln/>
        </p:spPr>
        <p:txBody>
          <a:bodyPr wrap="square" lIns="0" tIns="0" rIns="0" bIns="0" rtlCol="0" anchor="t"/>
          <a:lstStyle/>
          <a:p>
            <a:pPr indent="0" marL="0">
              <a:buNone/>
            </a:pPr>
            <a:r>
              <a:rPr lang="en-US" sz="2200" b="1" dirty="0">
                <a:solidFill>
                  <a:schemeClr val="accent1"/>
                </a:solidFill>
                <a:latin typeface="Malgun Gothic" pitchFamily="34" charset="0"/>
                <a:ea typeface="Malgun Gothic" pitchFamily="34" charset="-122"/>
                <a:cs typeface="Malgun Gothic" pitchFamily="34" charset="-120"/>
              </a:rPr>
              <a:t>질문 있으신가요?</a:t>
            </a:r>
            <a:endParaRPr lang="en-US" sz="2200" dirty="0"/>
          </a:p>
        </p:txBody>
      </p:sp>
      <p:sp>
        <p:nvSpPr>
          <p:cNvPr id="4" name="Text 2"/>
          <p:cNvSpPr txBox="1"/>
          <p:nvPr/>
        </p:nvSpPr>
        <p:spPr>
          <a:xfrm>
            <a:off x="640080" y="4297680"/>
            <a:ext cx="7863840" cy="274320"/>
          </a:xfrm>
          <a:prstGeom prst="rect">
            <a:avLst/>
          </a:prstGeom>
          <a:noFill/>
          <a:ln/>
        </p:spPr>
        <p:txBody>
          <a:bodyPr wrap="square" lIns="0" tIns="0" rIns="0" bIns="0" rtlCol="0" anchor="t"/>
          <a:lstStyle/>
          <a:p>
            <a:pPr indent="0" marL="0">
              <a:buNone/>
            </a:pPr>
            <a:r>
              <a:rPr lang="en-US" sz="1200" dirty="0">
                <a:solidFill>
                  <a:schemeClr val="accent6"/>
                </a:solidFill>
                <a:latin typeface="Malgun Gothic" pitchFamily="34" charset="0"/>
                <a:ea typeface="Malgun Gothic" pitchFamily="34" charset="-122"/>
                <a:cs typeface="Malgun Gothic" pitchFamily="34" charset="-120"/>
              </a:rPr>
              <a:t>참고: 카이푸 리·천치판, 『AI 2041』 / 통합과학2 교과서 Ⅲ단원</a:t>
            </a:r>
            <a:endParaRPr lang="en-US" sz="1200" dirty="0"/>
          </a:p>
        </p:txBody>
      </p:sp>
    </p:spTree>
  </p:cSld>
  <p:clrMapOvr>
    <a:masterClrMapping/>
  </p:clrMapOvr>
</p:sld>
</file>

<file path=ppt/theme/theme1.xml><?xml version="1.0" encoding="utf-8"?>
<a:theme xmlns:a="http://schemas.openxmlformats.org/drawingml/2006/main" name="AI2041 Night">
  <a:themeElements>
    <a:clrScheme name="AI2041 Night">
      <a:dk1>
        <a:srgbClr val="0B1230"/>
      </a:dk1>
      <a:lt1>
        <a:srgbClr val="FFFFFF"/>
      </a:lt1>
      <a:dk2>
        <a:srgbClr val="1B2559"/>
      </a:dk2>
      <a:lt2>
        <a:srgbClr val="E8ECFF"/>
      </a:lt2>
      <a:accent1>
        <a:srgbClr val="2EF2C0"/>
      </a:accent1>
      <a:accent2>
        <a:srgbClr val="8B5CF6"/>
      </a:accent2>
      <a:accent3>
        <a:srgbClr val="4C6FFF"/>
      </a:accent3>
      <a:accent4>
        <a:srgbClr val="FFB84D"/>
      </a:accent4>
      <a:accent5>
        <a:srgbClr val="FF6B8A"/>
      </a:accent5>
      <a:accent6>
        <a:srgbClr val="9AA4D6"/>
      </a:accent6>
      <a:hlink>
        <a:srgbClr val="2EF2C0"/>
      </a:hlink>
      <a:folHlink>
        <a:srgbClr val="9AA4D6"/>
      </a:folHlink>
    </a:clrScheme>
    <a:fontScheme name="AI2041 Night">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2041 - 소설 속 기술의 원리</dc:title>
  <dc:subject>PptxGenJS Presentation</dc:subject>
  <dc:creator>발표자</dc:creator>
  <cp:lastModifiedBy>발표자</cp:lastModifiedBy>
  <cp:revision>1</cp:revision>
  <dcterms:created xsi:type="dcterms:W3CDTF">2026-10-18T08:40:21Z</dcterms:created>
  <dcterms:modified xsi:type="dcterms:W3CDTF">2026-10-18T08:40:21Z</dcterms:modified>
</cp:coreProperties>
</file>